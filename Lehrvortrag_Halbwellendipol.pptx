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m" ContentType="video/webm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728" r:id="rId2"/>
  </p:sldMasterIdLst>
  <p:notesMasterIdLst>
    <p:notesMasterId r:id="rId76"/>
  </p:notesMasterIdLst>
  <p:handoutMasterIdLst>
    <p:handoutMasterId r:id="rId77"/>
  </p:handoutMasterIdLst>
  <p:sldIdLst>
    <p:sldId id="2001" r:id="rIdHW1"/>
    <p:sldId id="2002" r:id="rIdHW2"/>
    <p:sldId id="2003" r:id="rIdHW3"/>
    <p:sldId id="2004" r:id="rIdHW4"/>
    <p:sldId id="2005" r:id="rIdHW5"/>
    <p:sldId id="2006" r:id="rIdHW6"/>
    <p:sldId id="2007" r:id="rIdHW7"/>
    <p:sldId id="2008" r:id="rIdHW8"/>
    <p:sldId id="2009" r:id="rIdHW9"/>
    <p:sldId id="2010" r:id="rIdHW10"/>
    <p:sldId id="2011" r:id="rIdHW11"/>
    <p:sldId id="2012" r:id="rIdHW12"/>
    <p:sldId id="2013" r:id="rIdHW13"/>
    <p:sldId id="2014" r:id="rIdHW14"/>
    <p:sldId id="2015" r:id="rIdHW15"/>
    <p:sldId id="2016" r:id="rIdHW16"/>
    <p:sldId id="2017" r:id="rIdHW17"/>
    <p:sldId id="2018" r:id="rIdHW18"/>
    <p:sldId id="2019" r:id="rIdHW19"/>
    <p:sldId id="2020" r:id="rIdHW20"/>
    <p:sldId id="2021" r:id="rIdHW21"/>
    <p:sldId id="2022" r:id="rIdHW22"/>
    <p:sldId id="2023" r:id="rIdHW23"/>
    <p:sldId id="2024" r:id="rIdHW24"/>
    <p:sldId id="2025" r:id="rIdHW25"/>
    <p:sldId id="2026" r:id="rIdHW26"/>
    <p:sldId id="2027" r:id="rIdHW27"/>
    <p:sldId id="2028" r:id="rIdHW28"/>
    <p:sldId id="2029" r:id="rIdHW29"/>
    <p:sldId id="2030" r:id="rIdHW30"/>
    <p:sldId id="2031" r:id="rIdHW31"/>
    <p:sldId id="2032" r:id="rIdHW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629853E-CD88-671A-9098-F02AE2F716FA}" name="Dominik Mair" initials="DM" userId="S::Dominik.Mair@lfu.at::2ec1f4fd-b5d2-41b2-b9ad-c94b80e096a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6600"/>
    <a:srgbClr val="343433"/>
    <a:srgbClr val="00294C"/>
    <a:srgbClr val="4C4D4C"/>
    <a:srgbClr val="EB8B2D"/>
    <a:srgbClr val="636462"/>
    <a:srgbClr val="7777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3399" autoAdjust="0"/>
  </p:normalViewPr>
  <p:slideViewPr>
    <p:cSldViewPr snapToGrid="0" snapToObjects="1" showGuides="1">
      <p:cViewPr varScale="1">
        <p:scale>
          <a:sx n="69" d="100"/>
          <a:sy n="69" d="100"/>
        </p:scale>
        <p:origin x="123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70" d="100"/>
          <a:sy n="170" d="100"/>
        </p:scale>
        <p:origin x="6480" y="200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79" Type="http://schemas.openxmlformats.org/officeDocument/2006/relationships/viewProps" Target="viewProps.xml"/><Relationship Id="rId82" Type="http://schemas.microsoft.com/office/2018/10/relationships/authors" Target="authors.xml"/><Relationship Id="rId77" Type="http://schemas.openxmlformats.org/officeDocument/2006/relationships/handoutMaster" Target="handoutMasters/handoutMaster1.xml"/><Relationship Id="rId80" Type="http://schemas.openxmlformats.org/officeDocument/2006/relationships/theme" Target="theme/theme1.xml"/><Relationship Id="rId1" Type="http://schemas.openxmlformats.org/officeDocument/2006/relationships/customXml" Target="../customXml/item1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76" Type="http://schemas.openxmlformats.org/officeDocument/2006/relationships/notesMaster" Target="notesMasters/notesMaster1.xml"/><Relationship Id="rId2" Type="http://schemas.openxmlformats.org/officeDocument/2006/relationships/slideMaster" Target="slideMasters/slideMaster1.xml"/><Relationship Id="rIdHW1" Type="http://schemas.openxmlformats.org/officeDocument/2006/relationships/slide" Target="slides/slide101.xml"/><Relationship Id="rIdHW2" Type="http://schemas.openxmlformats.org/officeDocument/2006/relationships/slide" Target="slides/slide102.xml"/><Relationship Id="rIdHW3" Type="http://schemas.openxmlformats.org/officeDocument/2006/relationships/slide" Target="slides/slide103.xml"/><Relationship Id="rIdHW4" Type="http://schemas.openxmlformats.org/officeDocument/2006/relationships/slide" Target="slides/slide104.xml"/><Relationship Id="rIdHW5" Type="http://schemas.openxmlformats.org/officeDocument/2006/relationships/slide" Target="slides/slide105.xml"/><Relationship Id="rIdHW6" Type="http://schemas.openxmlformats.org/officeDocument/2006/relationships/slide" Target="slides/slide106.xml"/><Relationship Id="rIdHW7" Type="http://schemas.openxmlformats.org/officeDocument/2006/relationships/slide" Target="slides/slide107.xml"/><Relationship Id="rIdHW8" Type="http://schemas.openxmlformats.org/officeDocument/2006/relationships/slide" Target="slides/slide108.xml"/><Relationship Id="rIdHW9" Type="http://schemas.openxmlformats.org/officeDocument/2006/relationships/slide" Target="slides/slide109.xml"/><Relationship Id="rIdHW10" Type="http://schemas.openxmlformats.org/officeDocument/2006/relationships/slide" Target="slides/slide110.xml"/><Relationship Id="rIdHW11" Type="http://schemas.openxmlformats.org/officeDocument/2006/relationships/slide" Target="slides/slide111.xml"/><Relationship Id="rIdHW12" Type="http://schemas.openxmlformats.org/officeDocument/2006/relationships/slide" Target="slides/slide112.xml"/><Relationship Id="rIdHW13" Type="http://schemas.openxmlformats.org/officeDocument/2006/relationships/slide" Target="slides/slide113.xml"/><Relationship Id="rIdHW14" Type="http://schemas.openxmlformats.org/officeDocument/2006/relationships/slide" Target="slides/slide114.xml"/><Relationship Id="rIdHW15" Type="http://schemas.openxmlformats.org/officeDocument/2006/relationships/slide" Target="slides/slide115.xml"/><Relationship Id="rIdHW16" Type="http://schemas.openxmlformats.org/officeDocument/2006/relationships/slide" Target="slides/slide116.xml"/><Relationship Id="rIdHW17" Type="http://schemas.openxmlformats.org/officeDocument/2006/relationships/slide" Target="slides/slide117.xml"/><Relationship Id="rIdHW18" Type="http://schemas.openxmlformats.org/officeDocument/2006/relationships/slide" Target="slides/slide118.xml"/><Relationship Id="rIdHW19" Type="http://schemas.openxmlformats.org/officeDocument/2006/relationships/slide" Target="slides/slide119.xml"/><Relationship Id="rIdHW20" Type="http://schemas.openxmlformats.org/officeDocument/2006/relationships/slide" Target="slides/slide120.xml"/><Relationship Id="rIdHW21" Type="http://schemas.openxmlformats.org/officeDocument/2006/relationships/slide" Target="slides/slide121.xml"/><Relationship Id="rIdHW22" Type="http://schemas.openxmlformats.org/officeDocument/2006/relationships/slide" Target="slides/slide122.xml"/><Relationship Id="rIdHW23" Type="http://schemas.openxmlformats.org/officeDocument/2006/relationships/slide" Target="slides/slide123.xml"/><Relationship Id="rIdHW24" Type="http://schemas.openxmlformats.org/officeDocument/2006/relationships/slide" Target="slides/slide124.xml"/><Relationship Id="rIdHW25" Type="http://schemas.openxmlformats.org/officeDocument/2006/relationships/slide" Target="slides/slide125.xml"/><Relationship Id="rIdHW26" Type="http://schemas.openxmlformats.org/officeDocument/2006/relationships/slide" Target="slides/slide126.xml"/><Relationship Id="rIdHW27" Type="http://schemas.openxmlformats.org/officeDocument/2006/relationships/slide" Target="slides/slide127.xml"/><Relationship Id="rIdHW28" Type="http://schemas.openxmlformats.org/officeDocument/2006/relationships/slide" Target="slides/slide128.xml"/><Relationship Id="rIdHW29" Type="http://schemas.openxmlformats.org/officeDocument/2006/relationships/slide" Target="slides/slide129.xml"/><Relationship Id="rIdHW30" Type="http://schemas.openxmlformats.org/officeDocument/2006/relationships/slide" Target="slides/slide130.xml"/><Relationship Id="rIdHW31" Type="http://schemas.openxmlformats.org/officeDocument/2006/relationships/slide" Target="slides/slide131.xml"/><Relationship Id="rIdHW32" Type="http://schemas.openxmlformats.org/officeDocument/2006/relationships/slide" Target="slides/slide13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AF9A7093-B570-B193-D7A9-C5C63DBA201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ABD1486-6470-ADF8-DE88-7EFF4FFC6F9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35FBCA-7827-204B-8916-3BD441F72BB8}" type="datetimeFigureOut">
              <a:rPr lang="de-DE" smtClean="0"/>
              <a:t>07.05.2025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4AD9848-4544-6C88-D485-3E2FFA25B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A54C57B-ECE4-849C-BD69-0C6CD30F619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B2C0D7-0313-8748-AFD1-FE9CFDB25C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658877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2CE5A1-857B-214D-8BEE-AF65CEFCD544}" type="datetimeFigureOut">
              <a:rPr lang="de-DE" smtClean="0"/>
              <a:t>07.05.2025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531BCB-E4CC-CD41-BF0E-941D9510A3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562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0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Anknüpfen an die letzte Einheit: Der Hertzsche Dipol ist ein theoretisches Modell (d ≪ λ). In der Praxis ist der Halbwellendipol die wohl wichtigste Grundantenne. Heute: gleiche Herleitung, aber für eine Antenne, deren Länge vergleichbar mit der Wellenlänge ist.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0</a:t>
            </a:fld>
            <a:endParaRPr lang="de-DE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Zielgruppe wie beim Hertzschen Dipol. Voraussetzung: retardiertes Vektorpotential aus der letzten Einheit sowie stehende Wellen auf Leitungen (offenes Leitungsende, r = 1).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1</a:t>
            </a:fld>
            <a:endParaRPr lang="de-DE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Roter Faden: gleicher Lösungsweg wie beim Hertzschen Dipol – nur zwei Annahmen fallen weg (konstanter Strom, |r − r_q| ≈ r).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2</a:t>
            </a:fld>
            <a:endParaRPr lang="de-DE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Kurze Wiederholung der letzten Einheit. Hervorheben, welche zwei Annahmen den Hertzschen Dipol so einfach gemacht haben – genau diese fallen heute weg.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3</a:t>
            </a:fld>
            <a:endParaRPr lang="de-DE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Praxisbezug: Halbwellendipol ist die „Standardantenne“. Reale Dipole werden für Resonanz etwas kürzer als λ/2 ausgeführt (ca. 0,47–0,49 λ, abhängig vom Leiterdurchmesser). Für die Herleitung bleiben wir beim idealen, dünnen Dipol mit L = λ/2.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4</a:t>
            </a:fld>
            <a:endParaRPr lang="de-DE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Frage an das Publikum stellen und kurz diskutieren lassen.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5</a:t>
            </a:fld>
            <a:endParaRPr lang="de-DE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Beide Annahmen fallen weg: (1) Die Stromverteilung ist nicht konstant → wir brauchen I(z). (2) Die Laufzeitunterschiede der Teilwellen erzeugen Phasenunterschiede bis zu 90° → sie bestimmen die Richtcharakteristik.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6</a:t>
            </a:fld>
            <a:endParaRPr lang="de-DE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Anknüpfung an die Leitungstheorie: am offenen Ende r = 1, Strom null, Spannung maximal. λ/4 vor dem Ende liegt ein Strommaximum. Auf der Leitung fließen die Ströme entgegengesetzt, die Felder kompensieren sich im Fernfeld. Nach dem Aufbiegen zeigen beide Ströme in +z-Richtung und die Felder addieren sich → die Leitung „strahlt“.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7</a:t>
            </a:fld>
            <a:endParaRPr lang="de-DE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Allgemeine Form gilt für dünne Dipole beliebiger Länge (wichtig für spätere Einheiten). Für L = λ/2 wird daraus ein einfacher Kosinus. I0 ist hier gleichzeitig der Strom am Speisepunkt und das Strommaximum.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8</a:t>
            </a:fld>
            <a:endParaRPr lang="de-DE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Gleicher Startpunkt wie beim Hertzschen Dipol. Neu: wir dürfen I nicht vor das Integral ziehen und |r − r_q| nicht durch r ersetzen. Interpretation als Summe infinitesimaler Hertzscher Dipole betonen (Superposition, da linear).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9</a:t>
            </a:fld>
            <a:endParaRPr lang="de-DE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Wie beim Hertzschen Dipol: Retardierung wird bei harmonischer Anregung zu einem Phasenfaktor e^{-jk|r − r_q|}. Das Problem ist jetzt, dass dieser Abstand vom Integrationsort abhängt.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10</a:t>
            </a:fld>
            <a:endParaRPr lang="de-DE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Taylorentwicklung an der Tafel zeigen: √(1+x) ≈ 1 + x/2, x = −2 z_q cosϑ / r + z_q²/r². Der quadratische Term wird im Fernfeld vernachlässigt. Frage stellen!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11</a:t>
            </a:fld>
            <a:endParaRPr lang="de-DE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Kernaussage der Fernfeldnäherung: Amplitude grob (|r − r_q| ≈ r), Phase genau (|r − r_q| ≈ r − z_q cosϑ). Zahlenbeispiel: z_q = λ/4 → k z_q = π/2 = 90° Phasenfehler, wenn man ihn weglässt. Fraunhofer-Abstand 2L²/λ: dort ist der vernachlässigte quadratische Phasenterm ≤ π/8.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12</a:t>
            </a:fld>
            <a:endParaRPr lang="de-DE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Struktur des Ergebnisses: Kugelwelle (wie Hertz) mal ein Faktor, der nur vom Winkel abhängt. Dieses Integral ist die Interferenz der Teilwellen – später bei Gruppenantennen wieder als Array-Faktor. Symmetrieargument: gerade × ungerade = ungerade → Integral 0.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13</a:t>
            </a:fld>
            <a:endParaRPr lang="de-DE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Rechnung Schritt für Schritt; ggf. an der Tafel mitrechnen. Wichtiger Schritt: sin(π/2 · (1 ∓ cosϑ)) = cos(π/2 · cosϑ). Am Ende 1/(1−cosϑ) + 1/(1+cosϑ) = 2/sin²ϑ.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14</a:t>
            </a:fld>
            <a:endParaRPr lang="de-DE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Gleiche Zerlegung wie beim Hertzschen Dipol: ẑ = r̂ cosϑ − ϑ̂ sinϑ. Kugelkoordinaten im Bild zeigen.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15</a:t>
            </a:fld>
            <a:endParaRPr lang="de-DE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Rotation in Kugelkoordinaten: nur die φ-Komponente bleibt. Im Fernfeld zählt nur die Ableitung der Exponentialfunktion: ∂/∂r e^{−jkr} = −jk e^{−jkr}; alle übrigen Terme fallen mindestens mit 1/r² ab.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16</a:t>
            </a:fld>
            <a:endParaRPr lang="de-DE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Analog zum Hertzschen Dipol über das erweiterte Durchflutungsgesetz. Wichtig: k/(ωε0) = √(μ0/ε0) – Feldwellenwiderstand des freien Raums.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17</a:t>
            </a:fld>
            <a:endParaRPr lang="de-DE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Ergebnis festhalten. Animation rechts: Feldlinien des elektrischen Feldes (exakte Lösung, siehe übernächste Folie) – im Fernfeld lösen sich geschlossene Feldlinien ab und laufen als Kugelwelle nach außen.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18</a:t>
            </a:fld>
            <a:endParaRPr lang="de-DE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Wie beim Hertzschen Dipol: messbar ist der Realteil. Im Gegensatz zum Hertzschen Dipol (Nahfeld mit 90° Phasenversatz) haben wir hier nur Fernfeldterme – E und H in Phase.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19</a:t>
            </a:fld>
            <a:endParaRPr lang="de-DE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Ergebnis nur zeigen, nicht herleiten (Integration über die sinusförmige Stromverteilung, z. B. Balanis, Antenna Theory, Kap. 8). Schöne Interpretation: bei L = λ/2 scheinen die Felder von den beiden Dipolenden auszugehen. Mit R1,2 ≈ r ∓ (λ/4)cosϑ folgt e^{−jkR1} + e^{−jkR2} ≈ 2 e^{−jkr} cos(π/2 cosϑ) und damit wieder das Fernfeld. Die Animation wurde mit diesen Gleichungen berechnet: momentane E-Feldlinien = Höhenlinien von Re{−j·ρ·Hφ·e^{jωt}} (der Faktor −j folgt aus rot H = jωε0 E; im Nahfeld läuft E dem Strom um T/4 nach).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20</a:t>
            </a:fld>
            <a:endParaRPr lang="de-DE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Beide Dipole strahlen gleich polarisiert und mit gleicher Phasenfront ab – der Unterschied steckt in der Richtcharakteristik und im Betrag. Effektive Länge: mittlerer Strom auf dem λ/2-Dipol ist (2/π)·I0 → λ/2 · 2/π = λ/π. Wie sich die stärkere Bündelung in Direktivität und Gewinn niederschlägt, folgt auf den nächsten Folien.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21</a:t>
            </a:fld>
            <a:endParaRPr lang="de-DE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Zeitlich gemittelter Poynting-Vektor mit Scheitelwert-Phasoren (Faktor 1/2). Im Fernfeld zeigt er radial nach außen. Wichtig: r kürzt sich heraus – durch jede Kugel um den Dipol fließt dieselbe Leistung (Energieerhaltung im verlustfreien Raum).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22</a:t>
            </a:fld>
            <a:endParaRPr lang="de-DE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Das Integral ist nicht elementar lösbar, lässt sich aber auf den Integralkosinus Cin zurückführen (tabelliert, numerisch: Cin(2π) ≈ 2,4377). Zum Vergleich: beim Hertzschen Dipol ergibt das Winkelintegral ∫ sin³ϑ dϑ = 4/3 – elementar.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23</a:t>
            </a:fld>
            <a:endParaRPr lang="de-DE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Strahlungswiderstand: Ersatzwiderstand, der bei gleichem Strom dieselbe Wirkleistung aufnimmt. Beim λ/2-Dipol fließt am Speisepunkt das Strommaximum → R_in = R_S. Allgemein (Länge L): R_in = R_S/sin²(kL/2). Danach Frage an das Publikum stellen.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24</a:t>
            </a:fld>
            <a:endParaRPr lang="de-DE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Fernfeld → nur Wirkleistung (R). Die Blindleistung pendelt im Nahfeld → X. Methode der induzierten EMK (Carter 1932): Die vom Strom erzeugte Feldstärke E_z auf der Leiteroberfläche muss vom Generator „überwunden“ werden. Wir verwenden die exakte Nahfeldlösung von vorhin. Ergebnis: 73,1 + j42,5 Ω – der λ/2-Dipol ist leicht induktiv. Für Resonanz wird er etwas verkürzt (Verkürzungsfaktor), je dicker der Leiter, desto stärker. Diagramm: R_in und X_in über der Dipollänge (induzierte EMK).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25</a:t>
            </a:fld>
            <a:endParaRPr lang="de-DE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Idee: Ein isotroper Strahler verteilt dieselbe Leistung P_S gleichmäßig auf die Kugeloberfläche 4πr² – seine Leistungsdichte ist also P_S/(4πr²). Die Direktivität sagt, um wie viel die Leistungsdichte der Antenne in Hauptrichtung darüber liegt. r² kürzt sich heraus, D hängt also nicht vom Abstand ab (gleichwertig zur Definition über die Strahlungsintensität U = r²S). Der Halbwellendipol bündelt etwas stärker als der Hertzsche Dipol: 2,15 dBi statt 1,76 dBi. dBd-Angaben beziehen sich auf den Halbwellendipol (0 dBd = 2,15 dBi).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26</a:t>
            </a:fld>
            <a:endParaRPr lang="de-DE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Gewinn = Direktivität × Strahlungswirkungsgrad. Verluste über den Skineffekt: Strom fließt in einer dünnen Schicht der Dicke δ am Leiterumfang 2πa. Wegen der cos-Verteilung ist R_V nur halb so groß wie bei konstantem Strom. Beispiel zeigt: beim metallischen λ/2-Dipol spielen die Leiterverluste praktisch keine Rolle (η ≈ 99,9 %). Kritisch werden sie bei elektrisch kleinen Antennen, deren R_S sehr klein ist.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27</a:t>
            </a:fld>
            <a:endParaRPr lang="de-DE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Verknüpfung mit der Leitungstheorie: Reflexionsfaktor am Leitungsende. Der λ/2-Dipol an 50 Ω verliert durch Fehlanpassung ca. 0,65 dB. Der verkürzte, resonante Dipol (≈ 64 Ω) passt deutlich besser. In der Praxis zusätzlich: Symmetrierglied (Balun), da der Dipol symmetrisch, die Koaxialleitung aber unsymmetrisch ist.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28</a:t>
            </a:fld>
            <a:endParaRPr lang="de-DE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Zusammenfassung der heutigen Ergebnisse. Der Halbwellendipol hat einen deutlich größeren Strahlungswiderstand → gut anpassbar und effizient. Der Gewinnunterschied ist dagegen klein (0,4 dB).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29</a:t>
            </a:fld>
            <a:endParaRPr lang="de-DE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Überleitung zur nächsten Einheit.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30</a:t>
            </a:fld>
            <a:endParaRPr lang="de-DE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31</a:t>
            </a:fld>
            <a:endParaRPr lang="de-D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223FF5FB-C0BC-8FBF-E010-82C75F8599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4A5A38D-E190-82AE-46C3-2654892513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5423" y="2624296"/>
            <a:ext cx="10561669" cy="47783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667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15FB9842-8DFB-C8D2-DAF3-F9AEA1236D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85423" y="5407457"/>
            <a:ext cx="10561669" cy="457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>
                <a:solidFill>
                  <a:srgbClr val="343433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917861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223FF5FB-C0BC-8FBF-E010-82C75F8599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4A5A38D-E190-82AE-46C3-2654892513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5423" y="2624296"/>
            <a:ext cx="10561669" cy="47783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667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2" name="Textplatzhalter 12">
            <a:extLst>
              <a:ext uri="{FF2B5EF4-FFF2-40B4-BE49-F238E27FC236}">
                <a16:creationId xmlns:a16="http://schemas.microsoft.com/office/drawing/2014/main" id="{857560AF-62DA-685C-05D3-86EBDEF3A4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85423" y="5407457"/>
            <a:ext cx="10561669" cy="457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>
                <a:solidFill>
                  <a:srgbClr val="343433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124398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44FC01E-4815-58CB-245F-C6264A32E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408" y="1130142"/>
            <a:ext cx="10858029" cy="4746783"/>
          </a:xfrm>
        </p:spPr>
        <p:txBody>
          <a:bodyPr/>
          <a:lstStyle>
            <a:lvl1pPr marL="228594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1pPr>
            <a:lvl2pPr marL="685783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2pPr>
            <a:lvl3pPr marL="1142971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3pPr>
            <a:lvl4pPr marL="1600160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4pPr>
            <a:lvl5pPr marL="2057349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F467342-6F17-B273-AB31-7550A6A2E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408" y="332656"/>
            <a:ext cx="10865960" cy="47783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667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60C85B2-D425-5CFB-4251-19ED243B1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88966" y="6357537"/>
            <a:ext cx="4114800" cy="314425"/>
          </a:xfrm>
          <a:prstGeom prst="rect">
            <a:avLst/>
          </a:prstGeom>
        </p:spPr>
        <p:txBody>
          <a:bodyPr anchor="ctr" anchorCtr="1"/>
          <a:lstStyle>
            <a:lvl1pPr algn="ctr">
              <a:defRPr sz="933">
                <a:solidFill>
                  <a:schemeClr val="accent3"/>
                </a:solidFill>
                <a:latin typeface="+mj-lt"/>
              </a:defRPr>
            </a:lvl1pPr>
          </a:lstStyle>
          <a:p>
            <a:endParaRPr lang="de-DE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5E0B9212-D1C1-ADB0-2A92-B1D1B2B01F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8836" y="6355278"/>
            <a:ext cx="888247" cy="316684"/>
          </a:xfrm>
          <a:prstGeom prst="rect">
            <a:avLst/>
          </a:prstGeom>
        </p:spPr>
        <p:txBody>
          <a:bodyPr anchor="ctr" anchorCtr="1"/>
          <a:lstStyle>
            <a:lvl1pPr algn="r">
              <a:defRPr sz="933">
                <a:solidFill>
                  <a:schemeClr val="accent3"/>
                </a:solidFill>
              </a:defRPr>
            </a:lvl1pPr>
          </a:lstStyle>
          <a:p>
            <a:r>
              <a:rPr lang="de-DE"/>
              <a:t>Seite </a:t>
            </a:r>
            <a:fld id="{EBA229B5-7CFD-BC45-B1DD-7E8FA6FF2A01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97E50-EC1F-01A0-B1F3-70989E79ED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71980" y="6357537"/>
            <a:ext cx="1311917" cy="3166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33">
                <a:solidFill>
                  <a:schemeClr val="accent3"/>
                </a:solidFill>
              </a:defRPr>
            </a:lvl1pPr>
          </a:lstStyle>
          <a:p>
            <a:fld id="{7C3CDC0F-71BF-B840-812C-9588125E0BFE}" type="datetime6">
              <a:rPr lang="de-DE" smtClean="0"/>
              <a:pPr/>
              <a:t>Mai 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2403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0" userDrawn="1">
          <p15:clr>
            <a:srgbClr val="FBAE40"/>
          </p15:clr>
        </p15:guide>
        <p15:guide id="2" pos="48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6763" y="1125538"/>
            <a:ext cx="5273191" cy="4751387"/>
          </a:xfrm>
        </p:spPr>
        <p:txBody>
          <a:bodyPr>
            <a:normAutofit/>
          </a:bodyPr>
          <a:lstStyle>
            <a:lvl1pPr marL="228594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1pPr>
            <a:lvl2pPr marL="685783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2pPr>
            <a:lvl3pPr marL="1142971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3pPr>
            <a:lvl4pPr marL="1600160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4pPr>
            <a:lvl5pPr marL="2057349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7F25E90-E439-A938-CC55-2C9384E72BB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82000" y="1125538"/>
            <a:ext cx="5400748" cy="4751387"/>
          </a:xfrm>
        </p:spPr>
        <p:txBody>
          <a:bodyPr>
            <a:normAutofit/>
          </a:bodyPr>
          <a:lstStyle>
            <a:lvl1pPr marL="228594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1pPr>
            <a:lvl2pPr marL="685783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2pPr>
            <a:lvl3pPr marL="1142971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3pPr>
            <a:lvl4pPr marL="1600160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4pPr>
            <a:lvl5pPr marL="2057349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4869B38-494B-4C89-A74E-D20229C10B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763" y="329025"/>
            <a:ext cx="10865960" cy="47783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667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064C877-38F5-B23B-AB59-8521CEDEF5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87069" y="6352404"/>
            <a:ext cx="4114800" cy="314425"/>
          </a:xfrm>
          <a:prstGeom prst="rect">
            <a:avLst/>
          </a:prstGeom>
        </p:spPr>
        <p:txBody>
          <a:bodyPr anchor="ctr" anchorCtr="1"/>
          <a:lstStyle>
            <a:lvl1pPr algn="ctr">
              <a:defRPr sz="933">
                <a:solidFill>
                  <a:schemeClr val="accent3"/>
                </a:solidFill>
                <a:latin typeface="+mj-lt"/>
              </a:defRPr>
            </a:lvl1pPr>
          </a:lstStyle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F45A9A-4549-7291-C45E-B517A0EB5B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6939" y="6350145"/>
            <a:ext cx="888247" cy="316684"/>
          </a:xfrm>
          <a:prstGeom prst="rect">
            <a:avLst/>
          </a:prstGeom>
        </p:spPr>
        <p:txBody>
          <a:bodyPr anchor="ctr" anchorCtr="1"/>
          <a:lstStyle>
            <a:lvl1pPr algn="r">
              <a:defRPr sz="933">
                <a:solidFill>
                  <a:schemeClr val="accent3"/>
                </a:solidFill>
              </a:defRPr>
            </a:lvl1pPr>
          </a:lstStyle>
          <a:p>
            <a:r>
              <a:rPr lang="de-DE"/>
              <a:t>Seite </a:t>
            </a:r>
            <a:fld id="{EBA229B5-7CFD-BC45-B1DD-7E8FA6FF2A01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2BEA872-6F0E-93AD-97E6-4944DF48FB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70083" y="6352404"/>
            <a:ext cx="1311917" cy="3166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33">
                <a:solidFill>
                  <a:schemeClr val="accent3"/>
                </a:solidFill>
              </a:defRPr>
            </a:lvl1pPr>
          </a:lstStyle>
          <a:p>
            <a:fld id="{7C3CDC0F-71BF-B840-812C-9588125E0BFE}" type="datetime6">
              <a:rPr lang="de-DE" smtClean="0"/>
              <a:pPr/>
              <a:t>Mai 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873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0970" y="1797050"/>
            <a:ext cx="5201331" cy="4079875"/>
          </a:xfrm>
        </p:spPr>
        <p:txBody>
          <a:bodyPr>
            <a:normAutofit/>
          </a:bodyPr>
          <a:lstStyle>
            <a:lvl1pPr marL="228594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1pPr>
            <a:lvl2pPr marL="457189" indent="0">
              <a:buNone/>
              <a:defRPr sz="2000">
                <a:solidFill>
                  <a:srgbClr val="4C4D4C"/>
                </a:solidFill>
              </a:defRPr>
            </a:lvl2pPr>
            <a:lvl3pPr>
              <a:defRPr sz="2000">
                <a:solidFill>
                  <a:schemeClr val="accent6"/>
                </a:solidFill>
              </a:defRPr>
            </a:lvl3pPr>
            <a:lvl4pPr>
              <a:defRPr sz="2000">
                <a:solidFill>
                  <a:schemeClr val="accent6"/>
                </a:solidFill>
              </a:defRPr>
            </a:lvl4pPr>
            <a:lvl5pPr>
              <a:defRPr sz="20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endParaRPr lang="en-US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23EBBEB-ABBC-395C-14A7-2F7F0FAE60BA}"/>
              </a:ext>
            </a:extLst>
          </p:cNvPr>
          <p:cNvSpPr txBox="1"/>
          <p:nvPr userDrawn="1"/>
        </p:nvSpPr>
        <p:spPr>
          <a:xfrm>
            <a:off x="888646" y="1126927"/>
            <a:ext cx="5083656" cy="400110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bg1"/>
                </a:solidFill>
              </a:rPr>
              <a:t>Untertitelformat bearbeiten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68689F5-31B5-F924-6649-EBD229A11FB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40174" y="1797050"/>
            <a:ext cx="5201331" cy="4079875"/>
          </a:xfrm>
        </p:spPr>
        <p:txBody>
          <a:bodyPr>
            <a:normAutofit/>
          </a:bodyPr>
          <a:lstStyle>
            <a:lvl1pPr marL="228594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1pPr>
            <a:lvl2pPr marL="457189" indent="0">
              <a:buNone/>
              <a:defRPr sz="2000">
                <a:solidFill>
                  <a:srgbClr val="4C4D4C"/>
                </a:solidFill>
              </a:defRPr>
            </a:lvl2pPr>
            <a:lvl3pPr>
              <a:defRPr sz="2000">
                <a:solidFill>
                  <a:schemeClr val="accent6"/>
                </a:solidFill>
              </a:defRPr>
            </a:lvl3pPr>
            <a:lvl4pPr>
              <a:defRPr sz="2000">
                <a:solidFill>
                  <a:schemeClr val="accent6"/>
                </a:solidFill>
              </a:defRPr>
            </a:lvl4pPr>
            <a:lvl5pPr>
              <a:defRPr sz="20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endParaRPr lang="en-US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FCADC7D-CFAE-D0EC-0BBB-45D49E9E25BF}"/>
              </a:ext>
            </a:extLst>
          </p:cNvPr>
          <p:cNvSpPr txBox="1"/>
          <p:nvPr userDrawn="1"/>
        </p:nvSpPr>
        <p:spPr>
          <a:xfrm>
            <a:off x="6140173" y="1127050"/>
            <a:ext cx="5201331" cy="400110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bg1"/>
                </a:solidFill>
              </a:rPr>
              <a:t>Untertitelformat bearbeiten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CFBFCFE1-A281-A2FB-6E30-43BF24D334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184" y="333375"/>
            <a:ext cx="10865960" cy="47783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667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C06CE9B-759F-824A-C20A-5E10A93E4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87069" y="6354663"/>
            <a:ext cx="4114800" cy="314425"/>
          </a:xfrm>
          <a:prstGeom prst="rect">
            <a:avLst/>
          </a:prstGeom>
        </p:spPr>
        <p:txBody>
          <a:bodyPr anchor="ctr" anchorCtr="1"/>
          <a:lstStyle>
            <a:lvl1pPr algn="ctr">
              <a:defRPr sz="933">
                <a:solidFill>
                  <a:schemeClr val="accent3"/>
                </a:solidFill>
                <a:latin typeface="+mj-lt"/>
              </a:defRPr>
            </a:lvl1pPr>
          </a:lstStyle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CBACC-8192-9FCA-5352-7C6863BD1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6939" y="6352404"/>
            <a:ext cx="888247" cy="316684"/>
          </a:xfrm>
          <a:prstGeom prst="rect">
            <a:avLst/>
          </a:prstGeom>
        </p:spPr>
        <p:txBody>
          <a:bodyPr anchor="ctr" anchorCtr="1"/>
          <a:lstStyle>
            <a:lvl1pPr algn="r">
              <a:defRPr sz="933">
                <a:solidFill>
                  <a:schemeClr val="accent3"/>
                </a:solidFill>
              </a:defRPr>
            </a:lvl1pPr>
          </a:lstStyle>
          <a:p>
            <a:r>
              <a:rPr lang="de-DE"/>
              <a:t>Seite </a:t>
            </a:r>
            <a:fld id="{EBA229B5-7CFD-BC45-B1DD-7E8FA6FF2A01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ACE8F90-C45D-8937-D1DB-0139A002D5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70083" y="6354663"/>
            <a:ext cx="1311917" cy="3166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33">
                <a:solidFill>
                  <a:schemeClr val="accent3"/>
                </a:solidFill>
              </a:defRPr>
            </a:lvl1pPr>
          </a:lstStyle>
          <a:p>
            <a:fld id="{7C3CDC0F-71BF-B840-812C-9588125E0BFE}" type="datetime6">
              <a:rPr lang="de-DE" smtClean="0"/>
              <a:pPr/>
              <a:t>Mai 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441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6321" y="1117234"/>
            <a:ext cx="6080753" cy="4756918"/>
          </a:xfrm>
        </p:spPr>
        <p:txBody>
          <a:bodyPr/>
          <a:lstStyle>
            <a:lvl1pPr marL="228594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1pPr>
            <a:lvl2pPr marL="685783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2pPr>
            <a:lvl3pPr marL="1142971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3pPr>
            <a:lvl4pPr marL="1600160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4pPr>
            <a:lvl5pPr marL="2057349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0663" y="1120007"/>
            <a:ext cx="4538645" cy="4756918"/>
          </a:xfrm>
        </p:spPr>
        <p:txBody>
          <a:bodyPr>
            <a:normAutofit/>
          </a:bodyPr>
          <a:lstStyle>
            <a:lvl1pPr marL="0" indent="0">
              <a:buNone/>
              <a:defRPr sz="1733">
                <a:solidFill>
                  <a:srgbClr val="4C4D4C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10A2F76-5FE6-A2C9-8158-0253A4B2F1C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6763" y="602259"/>
            <a:ext cx="10878519" cy="477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2667" dirty="0">
                <a:solidFill>
                  <a:schemeClr val="accent1"/>
                </a:solidFill>
              </a:defRPr>
            </a:lvl1pPr>
          </a:lstStyle>
          <a:p>
            <a:pPr lvl="0"/>
            <a:br>
              <a:rPr lang="de-DE" dirty="0"/>
            </a:br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  <a:endParaRPr lang="en-US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95945F4-3FF9-3EFE-16B6-5F5982EA3F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58957" y="6367937"/>
            <a:ext cx="4114800" cy="314425"/>
          </a:xfrm>
          <a:prstGeom prst="rect">
            <a:avLst/>
          </a:prstGeom>
        </p:spPr>
        <p:txBody>
          <a:bodyPr anchor="ctr" anchorCtr="1"/>
          <a:lstStyle>
            <a:lvl1pPr algn="ctr">
              <a:defRPr sz="933">
                <a:solidFill>
                  <a:schemeClr val="accent3"/>
                </a:solidFill>
                <a:latin typeface="+mj-lt"/>
              </a:defRPr>
            </a:lvl1pPr>
          </a:lstStyle>
          <a:p>
            <a:endParaRPr lang="de-DE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C5FAE91-7171-D00B-D5B3-F231E3F8D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78827" y="6365678"/>
            <a:ext cx="888247" cy="316684"/>
          </a:xfrm>
          <a:prstGeom prst="rect">
            <a:avLst/>
          </a:prstGeom>
        </p:spPr>
        <p:txBody>
          <a:bodyPr anchor="ctr" anchorCtr="1"/>
          <a:lstStyle>
            <a:lvl1pPr algn="r">
              <a:defRPr sz="933">
                <a:solidFill>
                  <a:schemeClr val="accent3"/>
                </a:solidFill>
              </a:defRPr>
            </a:lvl1pPr>
          </a:lstStyle>
          <a:p>
            <a:r>
              <a:rPr lang="de-DE"/>
              <a:t>Seite </a:t>
            </a:r>
            <a:fld id="{EBA229B5-7CFD-BC45-B1DD-7E8FA6FF2A01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83719207-9E67-A5A0-0AFB-800C561F98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41971" y="6367937"/>
            <a:ext cx="1311917" cy="3166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33">
                <a:solidFill>
                  <a:schemeClr val="accent3"/>
                </a:solidFill>
              </a:defRPr>
            </a:lvl1pPr>
          </a:lstStyle>
          <a:p>
            <a:fld id="{7C3CDC0F-71BF-B840-812C-9588125E0BFE}" type="datetime6">
              <a:rPr lang="de-DE" smtClean="0"/>
              <a:pPr/>
              <a:t>Mai 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76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97428" y="1125538"/>
            <a:ext cx="6135295" cy="4751387"/>
          </a:xfrm>
        </p:spPr>
        <p:txBody>
          <a:bodyPr anchor="t">
            <a:normAutofit/>
          </a:bodyPr>
          <a:lstStyle>
            <a:lvl1pPr marL="0" indent="0">
              <a:buNone/>
              <a:defRPr sz="1733">
                <a:solidFill>
                  <a:srgbClr val="4C4D4C"/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6C6A265-800A-43D6-2F98-C10611F547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6763" y="1125538"/>
            <a:ext cx="4538645" cy="4751387"/>
          </a:xfrm>
        </p:spPr>
        <p:txBody>
          <a:bodyPr>
            <a:normAutofit/>
          </a:bodyPr>
          <a:lstStyle>
            <a:lvl1pPr marL="0" indent="0">
              <a:buNone/>
              <a:defRPr sz="1733">
                <a:solidFill>
                  <a:srgbClr val="4C4D4C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54FDCCD-A5AF-88A5-9D20-108CCA7A46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763" y="333375"/>
            <a:ext cx="10865960" cy="47783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667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19F5C56-FD7E-D515-80C0-7891D6A128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87069" y="6352404"/>
            <a:ext cx="4114800" cy="314425"/>
          </a:xfrm>
          <a:prstGeom prst="rect">
            <a:avLst/>
          </a:prstGeom>
        </p:spPr>
        <p:txBody>
          <a:bodyPr anchor="ctr" anchorCtr="1"/>
          <a:lstStyle>
            <a:lvl1pPr algn="ctr">
              <a:defRPr sz="933">
                <a:solidFill>
                  <a:schemeClr val="accent3"/>
                </a:solidFill>
                <a:latin typeface="+mj-lt"/>
              </a:defRPr>
            </a:lvl1pPr>
          </a:lstStyle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6BA88-315C-2F5A-C8CA-1B8CAE5AFF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6939" y="6350145"/>
            <a:ext cx="888247" cy="316684"/>
          </a:xfrm>
          <a:prstGeom prst="rect">
            <a:avLst/>
          </a:prstGeom>
        </p:spPr>
        <p:txBody>
          <a:bodyPr anchor="ctr" anchorCtr="1"/>
          <a:lstStyle>
            <a:lvl1pPr algn="r">
              <a:defRPr sz="933">
                <a:solidFill>
                  <a:schemeClr val="accent3"/>
                </a:solidFill>
              </a:defRPr>
            </a:lvl1pPr>
          </a:lstStyle>
          <a:p>
            <a:r>
              <a:rPr lang="de-DE"/>
              <a:t>Seite </a:t>
            </a:r>
            <a:fld id="{EBA229B5-7CFD-BC45-B1DD-7E8FA6FF2A01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E1B1380-8210-48A8-BB43-B42AD035E3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70083" y="6352404"/>
            <a:ext cx="1311917" cy="3166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33">
                <a:solidFill>
                  <a:schemeClr val="accent3"/>
                </a:solidFill>
              </a:defRPr>
            </a:lvl1pPr>
          </a:lstStyle>
          <a:p>
            <a:fld id="{7C3CDC0F-71BF-B840-812C-9588125E0BFE}" type="datetime6">
              <a:rPr lang="de-DE" smtClean="0"/>
              <a:pPr/>
              <a:t>Mai 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915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+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CD230031-93FC-50BC-76F9-90A026F0873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6763" y="1126928"/>
            <a:ext cx="10865960" cy="480053"/>
          </a:xfrm>
        </p:spPr>
        <p:txBody>
          <a:bodyPr>
            <a:normAutofit/>
          </a:bodyPr>
          <a:lstStyle>
            <a:lvl1pPr marL="0" indent="0" algn="l">
              <a:buNone/>
              <a:defRPr sz="1733">
                <a:solidFill>
                  <a:srgbClr val="4C4D4C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F17648C-2661-BBE0-ED31-F8BFFFC21DA4}"/>
              </a:ext>
            </a:extLst>
          </p:cNvPr>
          <p:cNvSpPr txBox="1">
            <a:spLocks/>
          </p:cNvSpPr>
          <p:nvPr userDrawn="1"/>
        </p:nvSpPr>
        <p:spPr>
          <a:xfrm>
            <a:off x="959280" y="1797050"/>
            <a:ext cx="10865960" cy="1056117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i="1" dirty="0">
                <a:solidFill>
                  <a:srgbClr val="4C4D4C"/>
                </a:solidFill>
                <a:latin typeface="+mn-lt"/>
              </a:rPr>
              <a:t>Zitat bearbeiten</a:t>
            </a:r>
            <a:endParaRPr lang="en-US" sz="2000" i="1" dirty="0">
              <a:solidFill>
                <a:srgbClr val="4C4D4C"/>
              </a:solidFill>
              <a:latin typeface="+mn-lt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F1926AB-352B-1D01-2E4A-B42350233D4A}"/>
              </a:ext>
            </a:extLst>
          </p:cNvPr>
          <p:cNvSpPr txBox="1">
            <a:spLocks/>
          </p:cNvSpPr>
          <p:nvPr userDrawn="1"/>
        </p:nvSpPr>
        <p:spPr>
          <a:xfrm>
            <a:off x="766763" y="2949177"/>
            <a:ext cx="10849700" cy="2927747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733" dirty="0">
                <a:solidFill>
                  <a:srgbClr val="4C4D4C"/>
                </a:solidFill>
              </a:rPr>
              <a:t>Mastertitelformat bearbeiten</a:t>
            </a:r>
            <a:endParaRPr lang="en-US" sz="1733" dirty="0">
              <a:solidFill>
                <a:srgbClr val="4C4D4C"/>
              </a:solidFill>
            </a:endParaRPr>
          </a:p>
        </p:txBody>
      </p:sp>
      <p:cxnSp>
        <p:nvCxnSpPr>
          <p:cNvPr id="11" name="Gerade Verbindung 10">
            <a:extLst>
              <a:ext uri="{FF2B5EF4-FFF2-40B4-BE49-F238E27FC236}">
                <a16:creationId xmlns:a16="http://schemas.microsoft.com/office/drawing/2014/main" id="{66364703-4655-3A8A-7A24-521B94AB028D}"/>
              </a:ext>
            </a:extLst>
          </p:cNvPr>
          <p:cNvCxnSpPr/>
          <p:nvPr userDrawn="1"/>
        </p:nvCxnSpPr>
        <p:spPr>
          <a:xfrm>
            <a:off x="863269" y="1797050"/>
            <a:ext cx="0" cy="960107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D4537A4E-7ECF-DAE3-1691-53F73276F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763" y="333375"/>
            <a:ext cx="10865960" cy="47783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667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A9014802-BFAB-F5A2-B75F-9FB942E2C2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87069" y="6352404"/>
            <a:ext cx="4114800" cy="314425"/>
          </a:xfrm>
          <a:prstGeom prst="rect">
            <a:avLst/>
          </a:prstGeom>
        </p:spPr>
        <p:txBody>
          <a:bodyPr anchor="ctr" anchorCtr="1"/>
          <a:lstStyle>
            <a:lvl1pPr algn="ctr">
              <a:defRPr sz="933">
                <a:solidFill>
                  <a:schemeClr val="accent3"/>
                </a:solidFill>
                <a:latin typeface="+mj-lt"/>
              </a:defRPr>
            </a:lvl1pPr>
          </a:lstStyle>
          <a:p>
            <a:endParaRPr lang="de-DE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CAB30F97-4BE0-5CC1-D8E4-6176CBD1FA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6939" y="6350145"/>
            <a:ext cx="888247" cy="316684"/>
          </a:xfrm>
          <a:prstGeom prst="rect">
            <a:avLst/>
          </a:prstGeom>
        </p:spPr>
        <p:txBody>
          <a:bodyPr anchor="ctr" anchorCtr="1"/>
          <a:lstStyle>
            <a:lvl1pPr algn="r">
              <a:defRPr sz="933">
                <a:solidFill>
                  <a:schemeClr val="accent3"/>
                </a:solidFill>
              </a:defRPr>
            </a:lvl1pPr>
          </a:lstStyle>
          <a:p>
            <a:r>
              <a:rPr lang="de-DE"/>
              <a:t>Seite </a:t>
            </a:r>
            <a:fld id="{EBA229B5-7CFD-BC45-B1DD-7E8FA6FF2A01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1B5A1-CC77-7628-2F4B-D2EF0A0DFA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70083" y="6352404"/>
            <a:ext cx="1311917" cy="3166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33">
                <a:solidFill>
                  <a:schemeClr val="accent3"/>
                </a:solidFill>
              </a:defRPr>
            </a:lvl1pPr>
          </a:lstStyle>
          <a:p>
            <a:fld id="{7C3CDC0F-71BF-B840-812C-9588125E0BFE}" type="datetime6">
              <a:rPr lang="de-DE" smtClean="0"/>
              <a:pPr/>
              <a:t>Mai 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369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DE1D3F9E-CCAE-4466-A283-C2A9F0F342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87069" y="6354663"/>
            <a:ext cx="4114800" cy="314425"/>
          </a:xfrm>
          <a:prstGeom prst="rect">
            <a:avLst/>
          </a:prstGeom>
        </p:spPr>
        <p:txBody>
          <a:bodyPr anchor="ctr" anchorCtr="1"/>
          <a:lstStyle>
            <a:lvl1pPr algn="ctr">
              <a:defRPr sz="933">
                <a:solidFill>
                  <a:schemeClr val="accent3"/>
                </a:solidFill>
                <a:latin typeface="+mj-lt"/>
              </a:defRPr>
            </a:lvl1pPr>
          </a:lstStyle>
          <a:p>
            <a:endParaRPr lang="de-DE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CBFD8B5-A5D3-47AF-94BC-02440AFB06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6939" y="6352404"/>
            <a:ext cx="888247" cy="316684"/>
          </a:xfrm>
          <a:prstGeom prst="rect">
            <a:avLst/>
          </a:prstGeom>
        </p:spPr>
        <p:txBody>
          <a:bodyPr anchor="ctr" anchorCtr="1"/>
          <a:lstStyle>
            <a:lvl1pPr algn="r">
              <a:defRPr sz="933">
                <a:solidFill>
                  <a:schemeClr val="accent3"/>
                </a:solidFill>
              </a:defRPr>
            </a:lvl1pPr>
          </a:lstStyle>
          <a:p>
            <a:r>
              <a:rPr lang="de-DE"/>
              <a:t>Seite </a:t>
            </a:r>
            <a:fld id="{EBA229B5-7CFD-BC45-B1DD-7E8FA6FF2A01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F82951B-5DE8-4179-9CDF-0C5072183A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70083" y="6354663"/>
            <a:ext cx="1311917" cy="3166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33">
                <a:solidFill>
                  <a:schemeClr val="accent3"/>
                </a:solidFill>
              </a:defRPr>
            </a:lvl1pPr>
          </a:lstStyle>
          <a:p>
            <a:fld id="{7C3CDC0F-71BF-B840-812C-9588125E0BFE}" type="datetime6">
              <a:rPr lang="de-DE" smtClean="0"/>
              <a:pPr/>
              <a:t>Mai 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653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ckblatt Social Media+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07090AD0-FD2A-CA7D-BBD5-5B2FCD0D81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240682" cy="688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136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3CDC0F-71BF-B840-812C-9588125E0BFE}" type="datetime6">
              <a:rPr lang="de-DE" smtClean="0"/>
              <a:t>Mai 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Seite </a:t>
            </a:r>
            <a:fld id="{EBA229B5-7CFD-BC45-B1DD-7E8FA6FF2A01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18396C8-6250-4EB9-A9AF-4941536C7682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/>
          <a:stretch/>
        </p:blipFill>
        <p:spPr>
          <a:xfrm>
            <a:off x="0" y="0"/>
            <a:ext cx="12250813" cy="689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700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06" r:id="rId3"/>
    <p:sldLayoutId id="2147483708" r:id="rId4"/>
    <p:sldLayoutId id="2147483721" r:id="rId5"/>
    <p:sldLayoutId id="2147483712" r:id="rId6"/>
    <p:sldLayoutId id="2147483713" r:id="rId7"/>
    <p:sldLayoutId id="2147483714" r:id="rId8"/>
    <p:sldLayoutId id="2147483735" r:id="rId9"/>
    <p:sldLayoutId id="2147483720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 userDrawn="1">
          <p15:clr>
            <a:srgbClr val="F26B43"/>
          </p15:clr>
        </p15:guide>
        <p15:guide id="2" pos="483" userDrawn="1">
          <p15:clr>
            <a:srgbClr val="F26B43"/>
          </p15:clr>
        </p15:guide>
        <p15:guide id="3" orient="horz" pos="210" userDrawn="1">
          <p15:clr>
            <a:srgbClr val="F26B43"/>
          </p15:clr>
        </p15:guide>
        <p15:guide id="4" orient="horz" pos="3702" userDrawn="1">
          <p15:clr>
            <a:srgbClr val="F26B43"/>
          </p15:clr>
        </p15:guide>
        <p15:guide id="5" orient="horz" pos="4201" userDrawn="1">
          <p15:clr>
            <a:srgbClr val="F26B43"/>
          </p15:clr>
        </p15:guide>
      </p15:sldGuideLst>
    </p:ext>
  </p:extLst>
</p:sldMaster>
</file>

<file path=ppt/slides/_rels/slide10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jpeg"/><Relationship Id="rId3" Type="http://schemas.openxmlformats.org/officeDocument/2006/relationships/image" Target="../media/image6.jpg"/><Relationship Id="rId4" Type="http://schemas.openxmlformats.org/officeDocument/2006/relationships/image" Target="../media/hw_titel_E_e58bf51a9d.gif"/><Relationship Id="rId5" Type="http://schemas.openxmlformats.org/officeDocument/2006/relationships/notesSlide" Target="../notesSlides/notesSlide101.xml"/></Relationships>
</file>

<file path=ppt/slides/_rels/slide10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hw_txt_9873be023b23.png"/><Relationship Id="rId3" Type="http://schemas.openxmlformats.org/officeDocument/2006/relationships/image" Target="../media/hw_eq_a54c63611892.png"/><Relationship Id="rId4" Type="http://schemas.openxmlformats.org/officeDocument/2006/relationships/image" Target="../media/hw_txt_051e4182af79.png"/><Relationship Id="rId5" Type="http://schemas.openxmlformats.org/officeDocument/2006/relationships/image" Target="../media/hw_eq_4d790aed3ae8.png"/><Relationship Id="rId6" Type="http://schemas.openxmlformats.org/officeDocument/2006/relationships/image" Target="../media/hw_txt_b455eac1313c.png"/><Relationship Id="rId7" Type="http://schemas.openxmlformats.org/officeDocument/2006/relationships/image" Target="../media/hw_eq_2e007a178dcc.png"/><Relationship Id="rId8" Type="http://schemas.openxmlformats.org/officeDocument/2006/relationships/image" Target="../media/hw_image10_e2a64ec2e3.png"/><Relationship Id="rId9" Type="http://schemas.openxmlformats.org/officeDocument/2006/relationships/notesSlide" Target="../notesSlides/notesSlide104.xml"/></Relationships>
</file>

<file path=ppt/slides/_rels/slide10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hw_txt_08f2f773f506.png"/><Relationship Id="rId3" Type="http://schemas.openxmlformats.org/officeDocument/2006/relationships/image" Target="../media/hw_aufbau_d71fd00608.png"/><Relationship Id="rId4" Type="http://schemas.openxmlformats.org/officeDocument/2006/relationships/notesSlide" Target="../notesSlides/notesSlide105.xml"/></Relationships>
</file>

<file path=ppt/slides/_rels/slide10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hw_eq_f3df37b3c66e.png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hw_eq_f3df37b3c66e.png"/><Relationship Id="rId3" Type="http://schemas.openxmlformats.org/officeDocument/2006/relationships/image" Target="../media/hw_txt_1cf877555dc4.png"/><Relationship Id="rId4" Type="http://schemas.openxmlformats.org/officeDocument/2006/relationships/notesSlide" Target="../notesSlides/notesSlide107.xml"/></Relationships>
</file>

<file path=ppt/slides/_rels/slide10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hw_leitung_dipol_9fa9037637.png"/><Relationship Id="rId3" Type="http://schemas.openxmlformats.org/officeDocument/2006/relationships/image" Target="../media/hw_txt_68cc25df7b7b.png"/><Relationship Id="rId4" Type="http://schemas.openxmlformats.org/officeDocument/2006/relationships/notesSlide" Target="../notesSlides/notesSlide108.xml"/></Relationships>
</file>

<file path=ppt/slides/_rels/slide10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hw_txt_b020ff5684df.png"/><Relationship Id="rId3" Type="http://schemas.openxmlformats.org/officeDocument/2006/relationships/image" Target="../media/hw_eq_82a32c97b174.png"/><Relationship Id="rId4" Type="http://schemas.openxmlformats.org/officeDocument/2006/relationships/image" Target="../media/hw_txt_22354f6d1ba5.png"/><Relationship Id="rId5" Type="http://schemas.openxmlformats.org/officeDocument/2006/relationships/image" Target="../media/hw_eq_ade2253446ec.png"/><Relationship Id="rId6" Type="http://schemas.openxmlformats.org/officeDocument/2006/relationships/image" Target="../media/hw_eq_9d7fb668259a.png"/><Relationship Id="rId7" Type="http://schemas.openxmlformats.org/officeDocument/2006/relationships/image" Target="../media/hw_txt_cca65531143a.png"/><Relationship Id="rId8" Type="http://schemas.openxmlformats.org/officeDocument/2006/relationships/image" Target="../media/hw_strom_de9ade4aa4.png"/><Relationship Id="rId9" Type="http://schemas.openxmlformats.org/officeDocument/2006/relationships/notesSlide" Target="../notesSlides/notesSlide109.xml"/></Relationships>
</file>

<file path=ppt/slides/_rels/slide1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hw_eq_a54c63611892.png"/><Relationship Id="rId3" Type="http://schemas.openxmlformats.org/officeDocument/2006/relationships/image" Target="../media/hw_txt_26bf8c644af0.png"/><Relationship Id="rId4" Type="http://schemas.openxmlformats.org/officeDocument/2006/relationships/image" Target="../media/hw_eq_5a652b7da4fc.png"/><Relationship Id="rId5" Type="http://schemas.openxmlformats.org/officeDocument/2006/relationships/image" Target="../media/hw_eq_cb41f1c74b17.png"/><Relationship Id="rId6" Type="http://schemas.openxmlformats.org/officeDocument/2006/relationships/image" Target="../media/hw_txt_329aa08048cb.png"/><Relationship Id="rId7" Type="http://schemas.openxmlformats.org/officeDocument/2006/relationships/image" Target="../media/hw_geometrie_515dd620a5.png"/><Relationship Id="rId8" Type="http://schemas.openxmlformats.org/officeDocument/2006/relationships/notesSlide" Target="../notesSlides/notesSlide110.xml"/></Relationships>
</file>

<file path=ppt/slides/_rels/slide1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hw_eq_4701ea1549fb.png"/><Relationship Id="rId3" Type="http://schemas.openxmlformats.org/officeDocument/2006/relationships/image" Target="../media/hw_eq_9ff1ab0c9c50.png"/><Relationship Id="rId4" Type="http://schemas.openxmlformats.org/officeDocument/2006/relationships/image" Target="../media/hw_txt_046d10a468af.png"/><Relationship Id="rId5" Type="http://schemas.openxmlformats.org/officeDocument/2006/relationships/image" Target="../media/hw_eq_dce18a954819.png"/><Relationship Id="rId6" Type="http://schemas.openxmlformats.org/officeDocument/2006/relationships/image" Target="../media/hw_txt_64a13adc80ba.png"/><Relationship Id="rId7" Type="http://schemas.openxmlformats.org/officeDocument/2006/relationships/image" Target="../media/hw_eq_960ba0027297.png"/><Relationship Id="rId8" Type="http://schemas.openxmlformats.org/officeDocument/2006/relationships/notesSlide" Target="../notesSlides/notesSlide111.xml"/></Relationships>
</file>

<file path=ppt/slides/_rels/slide1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hw_eq_3f5110401645.png"/><Relationship Id="rId3" Type="http://schemas.openxmlformats.org/officeDocument/2006/relationships/image" Target="../media/hw_txt_f2707448e0ca.png"/><Relationship Id="rId4" Type="http://schemas.openxmlformats.org/officeDocument/2006/relationships/image" Target="../media/hw_eq_28fc6e73c517.png"/><Relationship Id="rId5" Type="http://schemas.openxmlformats.org/officeDocument/2006/relationships/image" Target="../media/hw_txt_61270a4d5322.png"/><Relationship Id="rId6" Type="http://schemas.openxmlformats.org/officeDocument/2006/relationships/image" Target="../media/hw_fernfeld_a3bc5ade0a.png"/><Relationship Id="rId7" Type="http://schemas.openxmlformats.org/officeDocument/2006/relationships/notesSlide" Target="../notesSlides/notesSlide112.xml"/></Relationships>
</file>

<file path=ppt/slides/_rels/slide1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hw_eq_3f5110401645.png"/><Relationship Id="rId3" Type="http://schemas.openxmlformats.org/officeDocument/2006/relationships/image" Target="../media/hw_txt_f2707448e0ca.png"/><Relationship Id="rId4" Type="http://schemas.openxmlformats.org/officeDocument/2006/relationships/image" Target="../media/hw_eq_28fc6e73c517.png"/><Relationship Id="rId5" Type="http://schemas.openxmlformats.org/officeDocument/2006/relationships/image" Target="../media/hw_txt_08b65e05b6c9.png"/><Relationship Id="rId6" Type="http://schemas.openxmlformats.org/officeDocument/2006/relationships/image" Target="../media/hw_eq_2b5db4fada51.png"/><Relationship Id="rId7" Type="http://schemas.openxmlformats.org/officeDocument/2006/relationships/image" Target="../media/hw_txt_a0ef6de5bb04.png"/><Relationship Id="rId8" Type="http://schemas.openxmlformats.org/officeDocument/2006/relationships/image" Target="../media/hw_fernfeld_a3bc5ade0a.png"/><Relationship Id="rId9" Type="http://schemas.openxmlformats.org/officeDocument/2006/relationships/notesSlide" Target="../notesSlides/notesSlide113.xml"/></Relationships>
</file>

<file path=ppt/slides/_rels/slide1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hw_eq_505f1067ce4a.png"/><Relationship Id="rId3" Type="http://schemas.openxmlformats.org/officeDocument/2006/relationships/image" Target="../media/hw_txt_59e26203cac5.png"/><Relationship Id="rId4" Type="http://schemas.openxmlformats.org/officeDocument/2006/relationships/image" Target="../media/hw_eq_c0a5ad29fb6d.png"/><Relationship Id="rId5" Type="http://schemas.openxmlformats.org/officeDocument/2006/relationships/image" Target="../media/hw_txt_22e1d152b819.png"/><Relationship Id="rId6" Type="http://schemas.openxmlformats.org/officeDocument/2006/relationships/image" Target="../media/hw_eq_7a38da22c4cc.png"/><Relationship Id="rId7" Type="http://schemas.openxmlformats.org/officeDocument/2006/relationships/notesSlide" Target="../notesSlides/notesSlide114.xml"/></Relationships>
</file>

<file path=ppt/slides/_rels/slide1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hw_eq_7d149008d373.png"/><Relationship Id="rId3" Type="http://schemas.openxmlformats.org/officeDocument/2006/relationships/image" Target="../media/hw_txt_7d910dff1331.png"/><Relationship Id="rId4" Type="http://schemas.openxmlformats.org/officeDocument/2006/relationships/image" Target="../media/hw_eq_b8b02c1c879c.png"/><Relationship Id="rId5" Type="http://schemas.openxmlformats.org/officeDocument/2006/relationships/image" Target="../media/hw_eq_7a007e0d1ffc.png"/><Relationship Id="rId6" Type="http://schemas.openxmlformats.org/officeDocument/2006/relationships/image" Target="../media/hw_txt_660dcb4a0859.png"/><Relationship Id="rId7" Type="http://schemas.openxmlformats.org/officeDocument/2006/relationships/image" Target="../media/hw_eq_243f35a5d2ec.png"/><Relationship Id="rId8" Type="http://schemas.openxmlformats.org/officeDocument/2006/relationships/image" Target="../media/hw_eq_98054ec18c25.png"/><Relationship Id="rId9" Type="http://schemas.openxmlformats.org/officeDocument/2006/relationships/notesSlide" Target="../notesSlides/notesSlide115.xml"/></Relationships>
</file>

<file path=ppt/slides/_rels/slide1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hw_eq_6d3bdeb4ac69.png"/><Relationship Id="rId3" Type="http://schemas.openxmlformats.org/officeDocument/2006/relationships/image" Target="../media/hw_txt_efc6f172676f.png"/><Relationship Id="rId4" Type="http://schemas.openxmlformats.org/officeDocument/2006/relationships/image" Target="../media/hw_eq_92972a9595ef.png"/><Relationship Id="rId5" Type="http://schemas.openxmlformats.org/officeDocument/2006/relationships/image" Target="../media/hw_eq_75443a9c4e0b.png"/><Relationship Id="rId6" Type="http://schemas.openxmlformats.org/officeDocument/2006/relationships/image" Target="../media/hw_eq_aa6fc8fe8048.png"/><Relationship Id="rId7" Type="http://schemas.openxmlformats.org/officeDocument/2006/relationships/image" Target="../media/hw_image11_19fe24968a.png"/><Relationship Id="rId8" Type="http://schemas.openxmlformats.org/officeDocument/2006/relationships/notesSlide" Target="../notesSlides/notesSlide116.xml"/></Relationships>
</file>

<file path=ppt/slides/_rels/slide1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hw_eq_15f1c323b2e7.png"/><Relationship Id="rId3" Type="http://schemas.openxmlformats.org/officeDocument/2006/relationships/image" Target="../media/hw_eq_61a46b839b20.png"/><Relationship Id="rId4" Type="http://schemas.openxmlformats.org/officeDocument/2006/relationships/image" Target="../media/hw_txt_d9ff7bef7caa.png"/><Relationship Id="rId5" Type="http://schemas.openxmlformats.org/officeDocument/2006/relationships/image" Target="../media/hw_eq_7e7ad25b24b4.png"/><Relationship Id="rId6" Type="http://schemas.openxmlformats.org/officeDocument/2006/relationships/image" Target="../media/hw_txt_0e2ba4700cb2.png"/><Relationship Id="rId7" Type="http://schemas.openxmlformats.org/officeDocument/2006/relationships/image" Target="../media/hw_eq_b6c0e1f7bf9a.png"/><Relationship Id="rId8" Type="http://schemas.openxmlformats.org/officeDocument/2006/relationships/notesSlide" Target="../notesSlides/notesSlide117.xml"/></Relationships>
</file>

<file path=ppt/slides/_rels/slide1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hw_eq_2cfa5ea9881b.png"/><Relationship Id="rId3" Type="http://schemas.openxmlformats.org/officeDocument/2006/relationships/image" Target="../media/hw_eq_6cae4516d116.png"/><Relationship Id="rId4" Type="http://schemas.openxmlformats.org/officeDocument/2006/relationships/image" Target="../media/hw_txt_72f29d486293.png"/><Relationship Id="rId5" Type="http://schemas.openxmlformats.org/officeDocument/2006/relationships/image" Target="../media/hw_eq_010a506ece1e.png"/><Relationship Id="rId6" Type="http://schemas.openxmlformats.org/officeDocument/2006/relationships/image" Target="../media/hw_eq_35b8a09bbfd0.png"/><Relationship Id="rId7" Type="http://schemas.openxmlformats.org/officeDocument/2006/relationships/notesSlide" Target="../notesSlides/notesSlide118.xml"/></Relationships>
</file>

<file path=ppt/slides/_rels/slide1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hw_eq_fa0361dd1f50.png"/><Relationship Id="rId3" Type="http://schemas.openxmlformats.org/officeDocument/2006/relationships/image" Target="../media/hw_eq_0def537daf77.png"/><Relationship Id="rId4" Type="http://schemas.openxmlformats.org/officeDocument/2006/relationships/image" Target="../media/hw_eq_3d9945139259.png"/><Relationship Id="rId5" Type="http://schemas.openxmlformats.org/officeDocument/2006/relationships/image" Target="../media/hw_txt_a867de2e2096.png"/><Relationship Id="rId6" Type="http://schemas.openxmlformats.org/officeDocument/2006/relationships/image" Target="../media/hw_feldlinien_halbwelle_59131b6aa8.gif"/><Relationship Id="rId7" Type="http://schemas.openxmlformats.org/officeDocument/2006/relationships/notesSlide" Target="../notesSlides/notesSlide119.xml"/></Relationships>
</file>

<file path=ppt/slides/_rels/slide1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hw_eq_58a43046b40d.png"/><Relationship Id="rId3" Type="http://schemas.openxmlformats.org/officeDocument/2006/relationships/image" Target="../media/hw_eq_d73798bcf5ef.png"/><Relationship Id="rId4" Type="http://schemas.openxmlformats.org/officeDocument/2006/relationships/image" Target="../media/hw_eq_cf61f7cf0da9.png"/><Relationship Id="rId5" Type="http://schemas.openxmlformats.org/officeDocument/2006/relationships/image" Target="../media/hw_eq_f4d79c8f9df7.png"/><Relationship Id="rId6" Type="http://schemas.openxmlformats.org/officeDocument/2006/relationships/notesSlide" Target="../notesSlides/notesSlide120.xml"/></Relationships>
</file>

<file path=ppt/slides/_rels/slide1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hw_txt_c3c351cf9755.png"/><Relationship Id="rId3" Type="http://schemas.openxmlformats.org/officeDocument/2006/relationships/image" Target="../media/hw_eq_aa88db3bb4ac.png"/><Relationship Id="rId4" Type="http://schemas.openxmlformats.org/officeDocument/2006/relationships/image" Target="../media/hw_eq_748b6da1ea9c.png"/><Relationship Id="rId5" Type="http://schemas.openxmlformats.org/officeDocument/2006/relationships/image" Target="../media/hw_eq_df29720183cc.png"/><Relationship Id="rId6" Type="http://schemas.openxmlformats.org/officeDocument/2006/relationships/image" Target="../media/hw_eq_05b4fe7a0ec7.png"/><Relationship Id="rId7" Type="http://schemas.openxmlformats.org/officeDocument/2006/relationships/image" Target="../media/hw_txt_8d409bb3d06a.png"/><Relationship Id="rId8" Type="http://schemas.openxmlformats.org/officeDocument/2006/relationships/image" Target="../media/hw_feldlinien_halbwelle_59131b6aa8.gif"/><Relationship Id="rId9" Type="http://schemas.openxmlformats.org/officeDocument/2006/relationships/notesSlide" Target="../notesSlides/notesSlide121.xml"/></Relationships>
</file>

<file path=ppt/slides/_rels/slide1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hw_txt_c20199b2cd11.png"/><Relationship Id="rId3" Type="http://schemas.openxmlformats.org/officeDocument/2006/relationships/image" Target="../media/hw_eq_22efa5b91418.png"/><Relationship Id="rId4" Type="http://schemas.openxmlformats.org/officeDocument/2006/relationships/image" Target="../media/hw_txt_d59958b51a9f.png"/><Relationship Id="rId5" Type="http://schemas.openxmlformats.org/officeDocument/2006/relationships/image" Target="../media/hw_eq_90622153ef44.png"/><Relationship Id="rId6" Type="http://schemas.openxmlformats.org/officeDocument/2006/relationships/image" Target="../media/hw_txt_5ff4c705bb0c.png"/><Relationship Id="rId7" Type="http://schemas.openxmlformats.org/officeDocument/2006/relationships/image" Target="../media/hw_richtdiagramm_e43ff26dd0.png"/><Relationship Id="rId8" Type="http://schemas.openxmlformats.org/officeDocument/2006/relationships/notesSlide" Target="../notesSlides/notesSlide122.xml"/></Relationships>
</file>

<file path=ppt/slides/_rels/slide1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hw_txt_d1c0d3ea14a1.png"/><Relationship Id="rId3" Type="http://schemas.openxmlformats.org/officeDocument/2006/relationships/image" Target="../media/hw_eq_618193064e4d.png"/><Relationship Id="rId4" Type="http://schemas.openxmlformats.org/officeDocument/2006/relationships/image" Target="../media/hw_eq_db4468dbecb5.png"/><Relationship Id="rId5" Type="http://schemas.openxmlformats.org/officeDocument/2006/relationships/image" Target="../media/hw_txt_7ef8848511a2.png"/><Relationship Id="rId6" Type="http://schemas.openxmlformats.org/officeDocument/2006/relationships/image" Target="../media/hw_eq_815e817cd53f.png"/><Relationship Id="rId7" Type="http://schemas.openxmlformats.org/officeDocument/2006/relationships/image" Target="../media/hw_eq_cce69f304c58.png"/><Relationship Id="rId8" Type="http://schemas.openxmlformats.org/officeDocument/2006/relationships/image" Target="../media/hw_txt_ab39f6a3c661.png"/><Relationship Id="rId9" Type="http://schemas.openxmlformats.org/officeDocument/2006/relationships/notesSlide" Target="../notesSlides/notesSlide123.xml"/></Relationships>
</file>

<file path=ppt/slides/_rels/slide1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hw_txt_369f40a79ffa.png"/><Relationship Id="rId3" Type="http://schemas.openxmlformats.org/officeDocument/2006/relationships/image" Target="../media/hw_eq_1c5a81b23483.png"/><Relationship Id="rId4" Type="http://schemas.openxmlformats.org/officeDocument/2006/relationships/image" Target="../media/hw_txt_a6bb10a6f76b.png"/><Relationship Id="rId5" Type="http://schemas.openxmlformats.org/officeDocument/2006/relationships/image" Target="../media/hw_txt_f2c9238a62dc.png"/><Relationship Id="rId6" Type="http://schemas.openxmlformats.org/officeDocument/2006/relationships/image" Target="../media/hw_eq_15935a17817f.png"/><Relationship Id="rId7" Type="http://schemas.openxmlformats.org/officeDocument/2006/relationships/image" Target="../media/hw_txt_83c028385989.png"/><Relationship Id="rId8" Type="http://schemas.openxmlformats.org/officeDocument/2006/relationships/image" Target="../media/hw_eq_66643e6d541c.png"/><Relationship Id="rId9" Type="http://schemas.openxmlformats.org/officeDocument/2006/relationships/notesSlide" Target="../notesSlides/notesSlide124.xml"/></Relationships>
</file>

<file path=ppt/slides/_rels/slide1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hw_txt_9a48789da234.png"/><Relationship Id="rId3" Type="http://schemas.openxmlformats.org/officeDocument/2006/relationships/image" Target="../media/hw_eq_a8b798f1e187.png"/><Relationship Id="rId4" Type="http://schemas.openxmlformats.org/officeDocument/2006/relationships/image" Target="../media/hw_txt_bcfa0cf4d853.png"/><Relationship Id="rId5" Type="http://schemas.openxmlformats.org/officeDocument/2006/relationships/image" Target="../media/hw_eq_92130c43c505.png"/><Relationship Id="rId6" Type="http://schemas.openxmlformats.org/officeDocument/2006/relationships/image" Target="../media/hw_txt_40733b673e7c.png"/><Relationship Id="rId7" Type="http://schemas.openxmlformats.org/officeDocument/2006/relationships/notesSlide" Target="../notesSlides/notesSlide125.xml"/></Relationships>
</file>

<file path=ppt/slides/_rels/slide1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hw_txt_f2c4d647db47.png"/><Relationship Id="rId3" Type="http://schemas.openxmlformats.org/officeDocument/2006/relationships/image" Target="../media/hw_eq_c5a548991b01.png"/><Relationship Id="rId4" Type="http://schemas.openxmlformats.org/officeDocument/2006/relationships/image" Target="../media/hw_eq_c1cdeb374088.png"/><Relationship Id="rId5" Type="http://schemas.openxmlformats.org/officeDocument/2006/relationships/image" Target="../media/hw_txt_652d590b9ffd.png"/><Relationship Id="rId6" Type="http://schemas.openxmlformats.org/officeDocument/2006/relationships/image" Target="../media/hw_eq_f6f36fcbe938.png"/><Relationship Id="rId7" Type="http://schemas.openxmlformats.org/officeDocument/2006/relationships/image" Target="../media/hw_txt_53cabdd82abc.png"/><Relationship Id="rId8" Type="http://schemas.openxmlformats.org/officeDocument/2006/relationships/image" Target="../media/hw_impedanz_8f24584b40.png"/><Relationship Id="rId9" Type="http://schemas.openxmlformats.org/officeDocument/2006/relationships/notesSlide" Target="../notesSlides/notesSlide126.xml"/></Relationships>
</file>

<file path=ppt/slides/_rels/slide1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hw_txt_a59f13b1a165.png"/><Relationship Id="rId3" Type="http://schemas.openxmlformats.org/officeDocument/2006/relationships/image" Target="../media/hw_eq_9ad03b66233b.png"/><Relationship Id="rId4" Type="http://schemas.openxmlformats.org/officeDocument/2006/relationships/image" Target="../media/hw_txt_de498d8c00c8.png"/><Relationship Id="rId5" Type="http://schemas.openxmlformats.org/officeDocument/2006/relationships/image" Target="../media/hw_eq_1fbc84d16b85.png"/><Relationship Id="rId6" Type="http://schemas.openxmlformats.org/officeDocument/2006/relationships/image" Target="../media/hw_eq_d899a519d444.png"/><Relationship Id="rId7" Type="http://schemas.openxmlformats.org/officeDocument/2006/relationships/image" Target="../media/hw_txt_0887b1f6e4b6.png"/><Relationship Id="rId8" Type="http://schemas.openxmlformats.org/officeDocument/2006/relationships/image" Target="../media/hw_txt_406f5b7b4f16.png"/><Relationship Id="rId9" Type="http://schemas.openxmlformats.org/officeDocument/2006/relationships/image" Target="../media/hw_richtwirkung_5723753185.png"/><Relationship Id="rId10" Type="http://schemas.openxmlformats.org/officeDocument/2006/relationships/notesSlide" Target="../notesSlides/notesSlide127.xml"/></Relationships>
</file>

<file path=ppt/slides/_rels/slide1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hw_txt_49bc0dfa3a5f.png"/><Relationship Id="rId3" Type="http://schemas.openxmlformats.org/officeDocument/2006/relationships/image" Target="../media/hw_eq_cfd073d4f696.png"/><Relationship Id="rId4" Type="http://schemas.openxmlformats.org/officeDocument/2006/relationships/image" Target="../media/hw_txt_27115251b3b1.png"/><Relationship Id="rId5" Type="http://schemas.openxmlformats.org/officeDocument/2006/relationships/image" Target="../media/hw_eq_f91cfc00c502.png"/><Relationship Id="rId6" Type="http://schemas.openxmlformats.org/officeDocument/2006/relationships/image" Target="../media/hw_txt_33df1c86fd74.png"/><Relationship Id="rId7" Type="http://schemas.openxmlformats.org/officeDocument/2006/relationships/image" Target="../media/hw_eq_e4829bba53ca.png"/><Relationship Id="rId8" Type="http://schemas.openxmlformats.org/officeDocument/2006/relationships/image" Target="../media/hw_eq_9d0f27705c1c.png"/><Relationship Id="rId9" Type="http://schemas.openxmlformats.org/officeDocument/2006/relationships/image" Target="../media/hw_txt_b8ee61c73adf.png"/><Relationship Id="rId10" Type="http://schemas.openxmlformats.org/officeDocument/2006/relationships/notesSlide" Target="../notesSlides/notesSlide128.xml"/></Relationships>
</file>

<file path=ppt/slides/_rels/slide1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hw_txt_e137ae911647.png"/><Relationship Id="rId3" Type="http://schemas.openxmlformats.org/officeDocument/2006/relationships/image" Target="../media/hw_eq_417375188559.png"/><Relationship Id="rId4" Type="http://schemas.openxmlformats.org/officeDocument/2006/relationships/image" Target="../media/hw_txt_81985f596e1d.png"/><Relationship Id="rId5" Type="http://schemas.openxmlformats.org/officeDocument/2006/relationships/image" Target="../media/hw_eq_1b26e36ce309.png"/><Relationship Id="rId6" Type="http://schemas.openxmlformats.org/officeDocument/2006/relationships/image" Target="../media/hw_eq_c60fe9e52a32.png"/><Relationship Id="rId7" Type="http://schemas.openxmlformats.org/officeDocument/2006/relationships/image" Target="../media/hw_txt_1fb784eb3046.png"/><Relationship Id="rId8" Type="http://schemas.openxmlformats.org/officeDocument/2006/relationships/notesSlide" Target="../notesSlides/notesSlide129.xml"/></Relationships>
</file>

<file path=ppt/slides/_rels/slide1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hw_txt_bf08b6d76720.png"/><Relationship Id="rId3" Type="http://schemas.openxmlformats.org/officeDocument/2006/relationships/image" Target="../media/hw_txt_cc04ffe07a6e.png"/><Relationship Id="rId4" Type="http://schemas.openxmlformats.org/officeDocument/2006/relationships/image" Target="../media/hw_txt_f78ccdfca02d.png"/><Relationship Id="rId5" Type="http://schemas.openxmlformats.org/officeDocument/2006/relationships/image" Target="../media/hw_txt_78a156427a16.png"/><Relationship Id="rId6" Type="http://schemas.openxmlformats.org/officeDocument/2006/relationships/image" Target="../media/hw_txt_bd42f1022c54.png"/><Relationship Id="rId7" Type="http://schemas.openxmlformats.org/officeDocument/2006/relationships/image" Target="../media/hw_txt_3af22518de13.png"/><Relationship Id="rId8" Type="http://schemas.openxmlformats.org/officeDocument/2006/relationships/image" Target="../media/hw_txt_039833ffe786.png"/><Relationship Id="rId9" Type="http://schemas.openxmlformats.org/officeDocument/2006/relationships/image" Target="../media/hw_txt_aa9b4720cd56.png"/><Relationship Id="rId10" Type="http://schemas.openxmlformats.org/officeDocument/2006/relationships/image" Target="../media/hw_txt_c8452ba7bafb.png"/><Relationship Id="rId11" Type="http://schemas.openxmlformats.org/officeDocument/2006/relationships/image" Target="../media/hw_txt_fa66c96d1cb8.png"/><Relationship Id="rId12" Type="http://schemas.openxmlformats.org/officeDocument/2006/relationships/image" Target="../media/hw_txt_ee506d37cc06.png"/><Relationship Id="rId13" Type="http://schemas.openxmlformats.org/officeDocument/2006/relationships/image" Target="../media/hw_txt_eb3dcfe75c2c.png"/><Relationship Id="rId14" Type="http://schemas.openxmlformats.org/officeDocument/2006/relationships/image" Target="../media/hw_txt_5442b99d3df1.png"/><Relationship Id="rId15" Type="http://schemas.openxmlformats.org/officeDocument/2006/relationships/image" Target="../media/hw_txt_71ce4d677e62.png"/><Relationship Id="rId16" Type="http://schemas.openxmlformats.org/officeDocument/2006/relationships/image" Target="../media/hw_txt_d86ff96a6649.png"/><Relationship Id="rId17" Type="http://schemas.openxmlformats.org/officeDocument/2006/relationships/image" Target="../media/hw_txt_bd5941f66a24.png"/><Relationship Id="rId18" Type="http://schemas.openxmlformats.org/officeDocument/2006/relationships/image" Target="../media/hw_txt_a4bb33417159.png"/><Relationship Id="rId19" Type="http://schemas.openxmlformats.org/officeDocument/2006/relationships/notesSlide" Target="../notesSlides/notesSlide130.xml"/></Relationships>
</file>

<file path=ppt/slides/_rels/slide1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2.xml"/></Relationships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2289E1E-142F-EF63-1793-F777E91E3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matrix1.uibk.ac.at/_matrix/media/v3/download/uibk.ac.at/aqxCfwlHqpWDsDEPbTCymPFF">
            <a:extLst>
              <a:ext uri="{FF2B5EF4-FFF2-40B4-BE49-F238E27FC236}">
                <a16:creationId xmlns:a16="http://schemas.microsoft.com/office/drawing/2014/main" id="{50B99551-BF88-EF08-20BA-414CB09FE6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8" y="0"/>
            <a:ext cx="1218776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70378C47-3E75-AF30-1974-55273445F011}"/>
              </a:ext>
            </a:extLst>
          </p:cNvPr>
          <p:cNvSpPr txBox="1"/>
          <p:nvPr/>
        </p:nvSpPr>
        <p:spPr>
          <a:xfrm>
            <a:off x="6084553" y="-11447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3200" dirty="0"/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2D838F51-CC46-0469-69DA-32612BA56C24}"/>
              </a:ext>
            </a:extLst>
          </p:cNvPr>
          <p:cNvSpPr txBox="1">
            <a:spLocks/>
          </p:cNvSpPr>
          <p:nvPr/>
        </p:nvSpPr>
        <p:spPr>
          <a:xfrm>
            <a:off x="766763" y="6082475"/>
            <a:ext cx="10560049" cy="586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AT" sz="1500" dirty="0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The University </a:t>
            </a:r>
            <a:r>
              <a:rPr lang="de-AT" sz="1500" dirty="0" err="1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of</a:t>
            </a:r>
            <a:r>
              <a:rPr lang="de-AT" sz="1500" dirty="0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 Innsbruck was </a:t>
            </a:r>
            <a:r>
              <a:rPr lang="de-AT" sz="1500" dirty="0" err="1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founded</a:t>
            </a:r>
            <a:r>
              <a:rPr lang="de-AT" sz="1500" dirty="0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 in 1669 and </a:t>
            </a:r>
            <a:r>
              <a:rPr lang="de-AT" sz="1500" dirty="0" err="1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is</a:t>
            </a:r>
            <a:r>
              <a:rPr lang="de-AT" sz="1500" dirty="0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de-AT" sz="1500" dirty="0" err="1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one</a:t>
            </a:r>
            <a:r>
              <a:rPr lang="de-AT" sz="1500" dirty="0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de-AT" sz="1500" dirty="0" err="1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of</a:t>
            </a:r>
            <a:r>
              <a:rPr lang="de-AT" sz="1500" dirty="0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de-AT" sz="1500" dirty="0" err="1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Austria‘s</a:t>
            </a:r>
            <a:r>
              <a:rPr lang="de-AT" sz="1500" dirty="0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de-AT" sz="1500" dirty="0" err="1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oldest</a:t>
            </a:r>
            <a:r>
              <a:rPr lang="de-AT" sz="1500" dirty="0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de-AT" sz="1500" dirty="0" err="1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universities</a:t>
            </a:r>
            <a:r>
              <a:rPr lang="de-AT" sz="1500" dirty="0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. Today, </a:t>
            </a:r>
            <a:r>
              <a:rPr lang="de-AT" sz="1500" dirty="0" err="1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with</a:t>
            </a:r>
            <a:r>
              <a:rPr lang="de-AT" sz="1500" dirty="0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de-AT" sz="1500" dirty="0" err="1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over</a:t>
            </a:r>
            <a:r>
              <a:rPr lang="de-AT" sz="1500" dirty="0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 28.000 </a:t>
            </a:r>
            <a:r>
              <a:rPr lang="de-AT" sz="1500" dirty="0" err="1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students</a:t>
            </a:r>
            <a:r>
              <a:rPr lang="de-AT" sz="1500" dirty="0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 and 5.000 </a:t>
            </a:r>
            <a:r>
              <a:rPr lang="de-AT" sz="1500" dirty="0" err="1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staff</a:t>
            </a:r>
            <a:r>
              <a:rPr lang="de-AT" sz="1500" dirty="0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de-AT" sz="1500" dirty="0" err="1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it</a:t>
            </a:r>
            <a:r>
              <a:rPr lang="de-AT" sz="1500" dirty="0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de-AT" sz="1500" dirty="0" err="1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is</a:t>
            </a:r>
            <a:r>
              <a:rPr lang="de-AT" sz="1500" dirty="0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 western </a:t>
            </a:r>
            <a:r>
              <a:rPr lang="de-AT" sz="1500" dirty="0" err="1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Austria‘s</a:t>
            </a:r>
            <a:r>
              <a:rPr lang="de-AT" sz="1500" dirty="0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de-AT" sz="1500" dirty="0" err="1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largest</a:t>
            </a:r>
            <a:r>
              <a:rPr lang="de-AT" sz="1500" dirty="0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de-AT" sz="1500" dirty="0" err="1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institution</a:t>
            </a:r>
            <a:r>
              <a:rPr lang="de-AT" sz="1500" dirty="0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de-AT" sz="1500" dirty="0" err="1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of</a:t>
            </a:r>
            <a:r>
              <a:rPr lang="de-AT" sz="1500" dirty="0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de-AT" sz="1500" dirty="0" err="1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higher</a:t>
            </a:r>
            <a:r>
              <a:rPr lang="de-AT" sz="1500" dirty="0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de-AT" sz="1500" dirty="0" err="1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education</a:t>
            </a:r>
            <a:r>
              <a:rPr lang="de-AT" sz="1500" dirty="0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 and </a:t>
            </a:r>
            <a:r>
              <a:rPr lang="de-AT" sz="1500" dirty="0" err="1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research</a:t>
            </a:r>
            <a:r>
              <a:rPr lang="de-AT" sz="1500" dirty="0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. </a:t>
            </a:r>
            <a:r>
              <a:rPr lang="de-AT" sz="1500" b="1" dirty="0" err="1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For</a:t>
            </a:r>
            <a:r>
              <a:rPr lang="de-AT" sz="1500" b="1" dirty="0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de-AT" sz="1500" b="1" dirty="0" err="1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further</a:t>
            </a:r>
            <a:r>
              <a:rPr lang="de-AT" sz="1500" b="1" dirty="0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de-AT" sz="1500" b="1" dirty="0" err="1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information</a:t>
            </a:r>
            <a:r>
              <a:rPr lang="de-AT" sz="1500" b="1" dirty="0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de-AT" sz="1500" b="1" dirty="0" err="1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visit</a:t>
            </a:r>
            <a:r>
              <a:rPr lang="de-AT" sz="1500" b="1" dirty="0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: </a:t>
            </a:r>
            <a:r>
              <a:rPr lang="de-AT" sz="1500" b="1" dirty="0" err="1">
                <a:solidFill>
                  <a:srgbClr val="4C4D4C"/>
                </a:solidFill>
                <a:effectLst/>
                <a:latin typeface="Calibri" panose="020F0502020204030204" pitchFamily="34" charset="0"/>
              </a:rPr>
              <a:t>www.uibk.ac.at</a:t>
            </a:r>
            <a:endParaRPr lang="de-AT" sz="1500" dirty="0">
              <a:solidFill>
                <a:srgbClr val="4C4D4C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3D69BDB-CC90-780A-B56D-3DDEB6D4AE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/>
          <a:srcRect l="40399" t="30126" b="24303"/>
          <a:stretch/>
        </p:blipFill>
        <p:spPr bwMode="auto">
          <a:xfrm>
            <a:off x="-2118" y="-11446"/>
            <a:ext cx="12192000" cy="5243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fik 5" descr="Ein Bild, das Text, Screenshot, Kreis, Diagramm enthält.&#10;&#10;KI-generierte Inhalte können fehlerhaft sein.">
            <a:extLst>
              <a:ext uri="{FF2B5EF4-FFF2-40B4-BE49-F238E27FC236}">
                <a16:creationId xmlns:a16="http://schemas.microsoft.com/office/drawing/2014/main" id="{CAEEAADB-E065-1CF8-E84D-7F11BE9B8C6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rcRect/>
          <a:stretch/>
        </p:blipFill>
        <p:spPr>
          <a:xfrm>
            <a:off x="2118" y="-47899"/>
            <a:ext cx="12192000" cy="5280133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244AC853-7861-4F8B-6841-45014EEF25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/>
          <a:srcRect l="1310" t="2755" r="68830" b="78440"/>
          <a:stretch/>
        </p:blipFill>
        <p:spPr bwMode="auto">
          <a:xfrm>
            <a:off x="159719" y="138126"/>
            <a:ext cx="3639394" cy="1289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el 3">
            <a:extLst>
              <a:ext uri="{FF2B5EF4-FFF2-40B4-BE49-F238E27FC236}">
                <a16:creationId xmlns:a16="http://schemas.microsoft.com/office/drawing/2014/main" id="{6BE3AA16-56D7-A1DF-191D-C09DA08A58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763" y="5533147"/>
            <a:ext cx="10561669" cy="477837"/>
          </a:xfrm>
        </p:spPr>
        <p:txBody>
          <a:bodyPr/>
          <a:lstStyle/>
          <a:p>
            <a:r>
              <a:rPr lang="de-AT" dirty="0"/>
              <a:t>Halbwellendipol – Felder, Eingangsimpedanz und Gewinn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Einordnung</a:t>
            </a:r>
          </a:p>
        </p:txBody>
      </p:sp>
      <p:sp>
        <p:nvSpPr>
          <p:cNvPr id="3" name="Inhaltsplatzhalt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Bachelorstudierende Elektrotechnik</a:t>
            </a:r>
          </a:p>
          <a:p>
            <a:r>
              <a:rPr lang="de-DE" dirty="0"/>
              <a:t>6. Semester</a:t>
            </a:r>
          </a:p>
          <a:p>
            <a:r>
              <a:rPr lang="de-DE" dirty="0"/>
              <a:t>Grundlagen der Elektrodynamik und Leitungstheorie</a:t>
            </a:r>
            <a:br>
              <a:rPr lang="de-DE" dirty="0"/>
            </a:br>
            <a:r>
              <a:rPr lang="de-DE" dirty="0"/>
              <a:t>(retardierte Potentiale, stehende Wellen am offenen Leitungsende)</a:t>
            </a:r>
          </a:p>
          <a:p>
            <a:r>
              <a:rPr lang="de-DE" dirty="0"/>
              <a:t>Vorherige Einheit: Hertzscher Dipol – Lösung der Wellengleichung, Nah- und Fernfeld</a:t>
            </a:r>
          </a:p>
        </p:txBody>
      </p:sp>
      <p:sp>
        <p:nvSpPr>
          <p:cNvPr id="4" name="Foliennummernplatzhalt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 xml:space="preserve">Seite </a:t>
            </a:r>
            <a:fld id="{EBA229B5-7CFD-BC45-B1DD-7E8FA6FF2A01}" type="slidenum">
              <a:rPr lang="de-DE" smtClean="0"/>
              <a:pPr/>
              <a:t>1</a:t>
            </a:fld>
            <a:endParaRPr lang="de-DE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Ziel der heutigen Vorlesung</a:t>
            </a:r>
          </a:p>
        </p:txBody>
      </p:sp>
      <p:sp>
        <p:nvSpPr>
          <p:cNvPr id="3" name="Inhaltsplatzhalt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Aufbau und Stromverteilung des Halbwellendipols</a:t>
            </a:r>
          </a:p>
          <a:p>
            <a:r>
              <a:rPr lang="de-DE" dirty="0"/>
              <a:t>Übertragung des Lösungswegs vom Hertzschen Dipol auf eine ausgedehnte Antenne</a:t>
            </a:r>
          </a:p>
          <a:p>
            <a:r>
              <a:rPr lang="de-DE" dirty="0"/>
              <a:t>Fernfeldnäherung und Lösung des Strahlungsintegrals</a:t>
            </a:r>
          </a:p>
          <a:p>
            <a:r>
              <a:rPr lang="de-DE" dirty="0"/>
              <a:t>Lösung des elektrischen und magnetischen Feldes für den harmonisch schwingenden Halbwellendipol</a:t>
            </a:r>
          </a:p>
          <a:p>
            <a:r>
              <a:rPr lang="de-DE" dirty="0"/>
              <a:t>Strahlungsleistung, Strahlungswiderstand und Eingangsimpedanz</a:t>
            </a:r>
          </a:p>
          <a:p>
            <a:r>
              <a:rPr lang="de-DE" dirty="0"/>
              <a:t>Richtwirkung (Direktivität) und Antennengewinn</a:t>
            </a:r>
          </a:p>
          <a:p>
            <a:r>
              <a:rPr lang="de-DE" dirty="0"/>
              <a:t>Vergleich mit dem Hertzschen Dipol</a:t>
            </a:r>
          </a:p>
        </p:txBody>
      </p:sp>
      <p:sp>
        <p:nvSpPr>
          <p:cNvPr id="4" name="Foliennummernplatzhalt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 xml:space="preserve">Seite </a:t>
            </a:r>
            <a:fld id="{EBA229B5-7CFD-BC45-B1DD-7E8FA6FF2A01}" type="slidenum">
              <a:rPr lang="de-DE" smtClean="0"/>
              <a:pPr/>
              <a:t>2</a:t>
            </a:fld>
            <a:endParaRPr lang="de-DE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Grundlagen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feld 3"/>
              <p:cNvSpPr txBox="1"/>
              <p:nvPr/>
            </p:nvSpPr>
            <p:spPr>
              <a:xfrm>
                <a:off x="768096" y="1115568"/>
                <a:ext cx="6720840" cy="26767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733" b="1" dirty="0">
                    <a:solidFill>
                      <a:srgbClr val="4C4D4C"/>
                    </a:solidFill>
                  </a:rPr>
                  <a:t>Wiederholung – Hertzscher Dipol</a:t>
                </a:r>
                <a:r>
                  <a:rPr lang="de-DE" sz="1733" dirty="0">
                    <a:solidFill>
                      <a:srgbClr val="4C4D4C"/>
                    </a:solidFill>
                  </a:rPr>
                  <a:t xml:space="preserve"> (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≪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>):</a:t>
                </a:r>
                <a:endParaRPr lang="de-DE" sz="1733" dirty="0"/>
              </a:p>
            </p:txBody>
          </p:sp>
        </mc:Choice>
        <mc:Fallback>
          <p:sp>
            <p:nvSpPr>
              <p:cNvPr id="3" name="Textfeld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1115568"/>
                <a:ext cx="6720840" cy="2676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Formel 4"/>
              <p:cNvSpPr txBox="1"/>
              <p:nvPr/>
            </p:nvSpPr>
            <p:spPr>
              <a:xfrm>
                <a:off x="768096" y="1474678"/>
                <a:ext cx="6720840" cy="92582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d>
                        <m:dPr>
                          <m:begChr m:val="("/>
                          <m:endChr m:val=")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nary>
                        <m:naryPr>
                          <m:chr m:val="∭"/>
                          <m:limLoc m:val="subSup"/>
                          <m:subHide m:val="off"/>
                          <m:supHide m:val="on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sub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⃗"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</m:acc>
                              <m:d>
                                <m:dPr>
                                  <m:begChr m:val="("/>
                                  <m:endChr m:val=")"/>
                                  <m:grow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de-DE" i="0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de-DE" i="0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type m:val="bar"/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d>
                                        <m:dPr>
                                          <m:begChr m:val="|"/>
                                          <m:endChr m:val="|"/>
                                          <m:grow/>
                                          <m:ctrlP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de-DE" i="1" sz="1733">
                                                  <a:solidFill>
                                                    <a:schemeClr val="tx1">
                                                      <a:lumMod val="85000"/>
                                                      <a:lumOff val="1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de-DE" i="1" sz="1733">
                                                  <a:solidFill>
                                                    <a:schemeClr val="tx1">
                                                      <a:lumMod val="85000"/>
                                                      <a:lumOff val="1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</m:acc>
                                          <m:r>
                                            <m:rPr>
                                              <m:sty m:val="p"/>
                                            </m:rPr>
                                            <a:rPr lang="de-DE" i="0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de-DE" i="1" sz="1733">
                                                  <a:solidFill>
                                                    <a:schemeClr val="tx1">
                                                      <a:lumMod val="85000"/>
                                                      <a:lumOff val="1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⃗"/>
                                                  <m:ctrlPr>
                                                    <a:rPr lang="de-DE" i="1" sz="1733">
                                                      <a:solidFill>
                                                        <a:schemeClr val="tx1">
                                                          <a:lumMod val="85000"/>
                                                          <a:lumOff val="1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de-DE" i="1" sz="1733">
                                                      <a:solidFill>
                                                        <a:schemeClr val="tx1">
                                                          <a:lumMod val="85000"/>
                                                          <a:lumOff val="1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𝑟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de-DE" i="1" sz="1733">
                                                  <a:solidFill>
                                                    <a:schemeClr val="tx1">
                                                      <a:lumMod val="85000"/>
                                                      <a:lumOff val="1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den>
                                  </m:f>
                                </m:e>
                              </m:d>
                            </m:num>
                            <m:den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begChr m:val="|"/>
                                  <m:endChr m:val="|"/>
                                  <m:grow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acc>
                                  <m:r>
                                    <m:rPr>
                                      <m:sty m:val="p"/>
                                    </m:rPr>
                                    <a:rPr lang="de-DE" i="0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 xml:space="preserve"> 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nary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4" name="Formel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1474678"/>
                <a:ext cx="6720840" cy="9258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5" name="Textfeld 5"/>
          <p:cNvSpPr txBox="1"/>
          <p:nvPr/>
        </p:nvSpPr>
        <p:spPr>
          <a:xfrm>
            <a:off x="768096" y="2491943"/>
            <a:ext cx="6720840" cy="3006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de-DE" sz="1733" dirty="0">
                <a:solidFill>
                  <a:srgbClr val="4C4D4C"/>
                </a:solidFill>
              </a:rPr>
              <a:t>Vereinfachende Annahmen:</a:t>
            </a:r>
            <a:endParaRPr lang="de-DE" sz="1733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feld 6"/>
              <p:cNvSpPr txBox="1"/>
              <p:nvPr/>
            </p:nvSpPr>
            <p:spPr>
              <a:xfrm>
                <a:off x="768096" y="2829204"/>
                <a:ext cx="6720840" cy="57108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228594" indent="-228594" algn="l">
                  <a:lnSpc>
                    <a:spcPct val="100000"/>
                  </a:lnSpc>
                  <a:spcBef>
                    <a:spcPts val="0"/>
                  </a:spcBef>
                  <a:buClr>
                    <a:srgbClr val="4C4D4C"/>
                  </a:buClr>
                  <a:buFont typeface="Wingdings" pitchFamily="2" charset="2"/>
                  <a:buChar char="§"/>
                </a:pPr>
                <a:r>
                  <a:rPr lang="de-DE" sz="1733" dirty="0">
                    <a:solidFill>
                      <a:srgbClr val="4C4D4C"/>
                    </a:solidFill>
                  </a:rPr>
                  <a:t>Stromdichte entlang des Dipols konstant</a:t>
                </a:r>
                <a:endParaRPr lang="de-DE" sz="1733" dirty="0"/>
              </a:p>
              <a:p>
                <a:pPr marL="228594" indent="-228594" algn="l">
                  <a:lnSpc>
                    <a:spcPct val="100000"/>
                  </a:lnSpc>
                  <a:spcBef>
                    <a:spcPts val="0"/>
                  </a:spcBef>
                  <a:buClr>
                    <a:srgbClr val="4C4D4C"/>
                  </a:buClr>
                  <a:buFont typeface="Wingdings" pitchFamily="2" charset="2"/>
                  <a:buChar char="§"/>
                </a:pPr>
                <a:r>
                  <a:rPr lang="de-DE" sz="1733" dirty="0">
                    <a:solidFill>
                      <a:srgbClr val="4C4D4C"/>
                    </a:solidFill>
                  </a:rPr>
                  <a:t xml:space="preserve">Dipol sehr klein: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grow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de-DE" i="0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de-DE" i="1" sz="1733">
                                    <a:solidFill>
                                      <a:srgbClr val="4C4D4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i="1" sz="1733">
                                    <a:solidFill>
                                      <a:srgbClr val="4C4D4C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acc>
                          </m:e>
                          <m:sub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für alle Quellpunkte</a:t>
                </a:r>
                <a:endParaRPr lang="de-DE" sz="1733" dirty="0"/>
              </a:p>
            </p:txBody>
          </p:sp>
        </mc:Choice>
        <mc:Fallback>
          <p:sp>
            <p:nvSpPr>
              <p:cNvPr id="6" name="Textfeld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2829204"/>
                <a:ext cx="6720840" cy="5710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el 7"/>
              <p:cNvSpPr txBox="1"/>
              <p:nvPr/>
            </p:nvSpPr>
            <p:spPr>
              <a:xfrm>
                <a:off x="768096" y="3491729"/>
                <a:ext cx="6720840" cy="65115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d>
                        <m:dPr>
                          <m:begChr m:val="("/>
                          <m:endChr m:val=")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 xml:space="preserve"> </m:t>
                          </m:r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 xml:space="preserve"> </m:t>
                          </m:r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p>
                          </m:sSup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7" name="Formel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3491729"/>
                <a:ext cx="6720840" cy="6511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feld 8"/>
              <p:cNvSpPr txBox="1"/>
              <p:nvPr/>
            </p:nvSpPr>
            <p:spPr>
              <a:xfrm>
                <a:off x="768096" y="4234321"/>
                <a:ext cx="6720840" cy="26351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733" dirty="0">
                    <a:solidFill>
                      <a:srgbClr val="4C4D4C"/>
                    </a:solidFill>
                  </a:rPr>
                  <a:t>Fernfeld (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≫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>):</a:t>
                </a:r>
                <a:endParaRPr lang="de-DE" sz="1733" dirty="0"/>
              </a:p>
            </p:txBody>
          </p:sp>
        </mc:Choice>
        <mc:Fallback>
          <p:sp>
            <p:nvSpPr>
              <p:cNvPr id="8" name="Textfeld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4234321"/>
                <a:ext cx="6720840" cy="26351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el 9"/>
              <p:cNvSpPr txBox="1"/>
              <p:nvPr/>
            </p:nvSpPr>
            <p:spPr>
              <a:xfrm>
                <a:off x="768096" y="4534410"/>
                <a:ext cx="6720840" cy="69869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sSup>
                        <m:sSup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p>
                        <m:sSup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𝜗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  </m:t>
                      </m:r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𝜗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sub>
                      </m:sSub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9" name="Formel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4534410"/>
                <a:ext cx="6720840" cy="69869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pic>
        <p:nvPicPr>
          <p:cNvPr id="10" name="Grafik 10" descr="Hertzscher Dipol"/>
          <p:cNvPicPr>
            <a:picLocks noChangeAspect="1"/>
          </p:cNvPicPr>
          <p:nvPr/>
        </p:nvPicPr>
        <p:blipFill>
          <a:blip r:embed="rId8"/>
          <a:srcRect l="0" t="0" r="57707" b="0"/>
          <a:stretch>
            <a:fillRect/>
          </a:stretch>
        </p:blipFill>
        <p:spPr>
          <a:xfrm>
            <a:off x="8503920" y="1325880"/>
            <a:ext cx="3222727" cy="3840480"/>
          </a:xfrm>
          <a:prstGeom prst="rect">
            <a:avLst/>
          </a:prstGeom>
        </p:spPr>
      </p:pic>
      <p:sp>
        <p:nvSpPr>
          <p:cNvPr id="11" name="Foliennummernplatzhalt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 xml:space="preserve">Seite </a:t>
            </a:r>
            <a:fld id="{EBA229B5-7CFD-BC45-B1DD-7E8FA6FF2A01}" type="slidenum">
              <a:rPr lang="de-DE" smtClean="0"/>
              <a:pPr/>
              <a:t>3</a:t>
            </a:fld>
            <a:endParaRPr lang="de-DE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Grundlagen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feld 3"/>
              <p:cNvSpPr txBox="1"/>
              <p:nvPr/>
            </p:nvSpPr>
            <p:spPr>
              <a:xfrm>
                <a:off x="768096" y="1115568"/>
                <a:ext cx="6720840" cy="285292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228594" indent="-228594" algn="l">
                  <a:lnSpc>
                    <a:spcPct val="100000"/>
                  </a:lnSpc>
                  <a:spcBef>
                    <a:spcPts val="1008"/>
                  </a:spcBef>
                  <a:buClr>
                    <a:srgbClr val="4C4D4C"/>
                  </a:buClr>
                  <a:buFont typeface="Wingdings" pitchFamily="2" charset="2"/>
                  <a:buChar char="§"/>
                </a:pPr>
                <a:r>
                  <a:rPr lang="de-DE" sz="1733" dirty="0">
                    <a:solidFill>
                      <a:srgbClr val="4C4D4C"/>
                    </a:solidFill>
                  </a:rPr>
                  <a:t>In der Praxis werden meist Antennen verwendet, deren Länge in der Größenordnung der Wellenlänge liegt.</a:t>
                </a:r>
                <a:endParaRPr lang="de-DE" sz="1733" dirty="0"/>
              </a:p>
              <a:p>
                <a:pPr marL="228594" indent="-228594" algn="l">
                  <a:lnSpc>
                    <a:spcPct val="100000"/>
                  </a:lnSpc>
                  <a:spcBef>
                    <a:spcPts val="1008"/>
                  </a:spcBef>
                  <a:buClr>
                    <a:srgbClr val="4C4D4C"/>
                  </a:buClr>
                  <a:buFont typeface="Wingdings" pitchFamily="2" charset="2"/>
                  <a:buChar char="§"/>
                </a:pPr>
                <a:r>
                  <a:rPr lang="de-DE" sz="1733" dirty="0">
                    <a:solidFill>
                      <a:srgbClr val="4C4D4C"/>
                    </a:solidFill>
                  </a:rPr>
                  <a:t xml:space="preserve">Der </a:t>
                </a:r>
                <a:r>
                  <a:rPr lang="de-DE" sz="1733" b="1" dirty="0">
                    <a:solidFill>
                      <a:srgbClr val="4C4D4C"/>
                    </a:solidFill>
                  </a:rPr>
                  <a:t>Halbwellendipol</a:t>
                </a:r>
                <a:r>
                  <a:rPr lang="de-DE" sz="1733" dirty="0">
                    <a:solidFill>
                      <a:srgbClr val="4C4D4C"/>
                    </a:solidFill>
                  </a:rPr>
                  <a:t xml:space="preserve"> besteht aus zwei dünnen Leitern der Länge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>, die in der Mitte über einen schmalen Spalt gespeist werden.</a:t>
                </a:r>
                <a:endParaRPr lang="de-DE" sz="1733" dirty="0"/>
              </a:p>
              <a:p>
                <a:pPr marL="228594" indent="-228594" algn="l">
                  <a:lnSpc>
                    <a:spcPct val="100000"/>
                  </a:lnSpc>
                  <a:spcBef>
                    <a:spcPts val="1008"/>
                  </a:spcBef>
                  <a:buClr>
                    <a:srgbClr val="4C4D4C"/>
                  </a:buClr>
                  <a:buFont typeface="Wingdings" pitchFamily="2" charset="2"/>
                  <a:buChar char="§"/>
                </a:pPr>
                <a:r>
                  <a:rPr lang="de-DE" sz="1733" dirty="0">
                    <a:solidFill>
                      <a:srgbClr val="4C4D4C"/>
                    </a:solidFill>
                  </a:rPr>
                  <a:t xml:space="preserve">Gesamtlänge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– die Antenne ist damit </a:t>
                </a:r>
                <a:r>
                  <a:rPr lang="de-DE" sz="1733" b="1" dirty="0">
                    <a:solidFill>
                      <a:srgbClr val="4C4D4C"/>
                    </a:solidFill>
                  </a:rPr>
                  <a:t>nicht mehr klein</a:t>
                </a:r>
                <a:r>
                  <a:rPr lang="de-DE" sz="1733" dirty="0">
                    <a:solidFill>
                      <a:srgbClr val="4C4D4C"/>
                    </a:solidFill>
                  </a:rPr>
                  <a:t xml:space="preserve"> gegenüber der Wellenlänge!</a:t>
                </a:r>
                <a:endParaRPr lang="de-DE" sz="1733" dirty="0"/>
              </a:p>
              <a:p>
                <a:pPr marL="228594" indent="-228594" algn="l">
                  <a:lnSpc>
                    <a:spcPct val="100000"/>
                  </a:lnSpc>
                  <a:spcBef>
                    <a:spcPts val="1008"/>
                  </a:spcBef>
                  <a:buClr>
                    <a:srgbClr val="4C4D4C"/>
                  </a:buClr>
                  <a:buFont typeface="Wingdings" pitchFamily="2" charset="2"/>
                  <a:buChar char="§"/>
                </a:pPr>
                <a:r>
                  <a:rPr lang="de-DE" sz="1733" dirty="0">
                    <a:solidFill>
                      <a:srgbClr val="4C4D4C"/>
                    </a:solidFill>
                  </a:rPr>
                  <a:t xml:space="preserve">Annahme: dünner Dipol (Leiterradius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≪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>)</a:t>
                </a:r>
                <a:endParaRPr lang="de-DE" sz="1733" dirty="0"/>
              </a:p>
              <a:p>
                <a:pPr marL="228594" indent="-228594" algn="l">
                  <a:lnSpc>
                    <a:spcPct val="100000"/>
                  </a:lnSpc>
                  <a:spcBef>
                    <a:spcPts val="1008"/>
                  </a:spcBef>
                  <a:buClr>
                    <a:srgbClr val="4C4D4C"/>
                  </a:buClr>
                  <a:buFont typeface="Wingdings" pitchFamily="2" charset="2"/>
                  <a:buChar char="§"/>
                </a:pPr>
                <a:r>
                  <a:rPr lang="de-DE" sz="1733" dirty="0">
                    <a:solidFill>
                      <a:srgbClr val="4C4D4C"/>
                    </a:solidFill>
                  </a:rPr>
                  <a:t>Anwendungen: Rundfunk, Mobilfunk-Basisstationen, Referenzantenne in der Antennenmesstechnik</a:t>
                </a:r>
                <a:endParaRPr lang="de-DE" sz="1733" dirty="0"/>
              </a:p>
            </p:txBody>
          </p:sp>
        </mc:Choice>
        <mc:Fallback>
          <p:sp>
            <p:nvSpPr>
              <p:cNvPr id="3" name="Textfeld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1115568"/>
                <a:ext cx="6720840" cy="28529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pic>
        <p:nvPicPr>
          <p:cNvPr id="4" name="Grafik 4" descr="Aufbau Halbwellendipol mit Stromverteilu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635240" y="1188720"/>
            <a:ext cx="4114800" cy="3550709"/>
          </a:xfrm>
          <a:prstGeom prst="rect">
            <a:avLst/>
          </a:prstGeom>
        </p:spPr>
      </p:pic>
      <p:sp>
        <p:nvSpPr>
          <p:cNvPr id="5" name="Foliennummernplatzhalt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 xml:space="preserve">Seite </a:t>
            </a:r>
            <a:fld id="{EBA229B5-7CFD-BC45-B1DD-7E8FA6FF2A01}" type="slidenum">
              <a:rPr lang="de-DE" smtClean="0"/>
              <a:pPr/>
              <a:t>4</a:t>
            </a:fld>
            <a:endParaRPr lang="de-DE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Grundlagen</a:t>
            </a:r>
          </a:p>
        </p:txBody>
      </p:sp>
      <p:sp>
        <p:nvSpPr>
          <p:cNvPr id="3" name="Textfeld 3"/>
          <p:cNvSpPr txBox="1"/>
          <p:nvPr/>
        </p:nvSpPr>
        <p:spPr>
          <a:xfrm>
            <a:off x="768096" y="1115568"/>
            <a:ext cx="10652760" cy="3006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de-DE" sz="1733" dirty="0">
                <a:solidFill>
                  <a:srgbClr val="4C4D4C"/>
                </a:solidFill>
              </a:rPr>
              <a:t>Ausgangspunkt ist wieder das retardierte Vektorpotential:</a:t>
            </a:r>
            <a:endParaRPr lang="de-DE" sz="1733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Formel 4"/>
              <p:cNvSpPr txBox="1"/>
              <p:nvPr/>
            </p:nvSpPr>
            <p:spPr>
              <a:xfrm>
                <a:off x="768096" y="1507693"/>
                <a:ext cx="10652760" cy="92582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d>
                        <m:dPr>
                          <m:begChr m:val="("/>
                          <m:endChr m:val=")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nary>
                        <m:naryPr>
                          <m:chr m:val="∭"/>
                          <m:limLoc m:val="subSup"/>
                          <m:subHide m:val="off"/>
                          <m:supHide m:val="on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sub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⃗"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</m:acc>
                              <m:d>
                                <m:dPr>
                                  <m:begChr m:val="("/>
                                  <m:endChr m:val=")"/>
                                  <m:grow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de-DE" i="0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de-DE" i="0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type m:val="bar"/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d>
                                        <m:dPr>
                                          <m:begChr m:val="|"/>
                                          <m:endChr m:val="|"/>
                                          <m:grow/>
                                          <m:ctrlP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de-DE" i="1" sz="1733">
                                                  <a:solidFill>
                                                    <a:schemeClr val="tx1">
                                                      <a:lumMod val="85000"/>
                                                      <a:lumOff val="1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de-DE" i="1" sz="1733">
                                                  <a:solidFill>
                                                    <a:schemeClr val="tx1">
                                                      <a:lumMod val="85000"/>
                                                      <a:lumOff val="1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</m:acc>
                                          <m:r>
                                            <m:rPr>
                                              <m:sty m:val="p"/>
                                            </m:rPr>
                                            <a:rPr lang="de-DE" i="0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de-DE" i="1" sz="1733">
                                                  <a:solidFill>
                                                    <a:schemeClr val="tx1">
                                                      <a:lumMod val="85000"/>
                                                      <a:lumOff val="1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⃗"/>
                                                  <m:ctrlPr>
                                                    <a:rPr lang="de-DE" i="1" sz="1733">
                                                      <a:solidFill>
                                                        <a:schemeClr val="tx1">
                                                          <a:lumMod val="85000"/>
                                                          <a:lumOff val="1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de-DE" i="1" sz="1733">
                                                      <a:solidFill>
                                                        <a:schemeClr val="tx1">
                                                          <a:lumMod val="85000"/>
                                                          <a:lumOff val="1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𝑟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de-DE" i="1" sz="1733">
                                                  <a:solidFill>
                                                    <a:schemeClr val="tx1">
                                                      <a:lumMod val="85000"/>
                                                      <a:lumOff val="1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den>
                                  </m:f>
                                </m:e>
                              </m:d>
                            </m:num>
                            <m:den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begChr m:val="|"/>
                                  <m:endChr m:val="|"/>
                                  <m:grow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acc>
                                  <m:r>
                                    <m:rPr>
                                      <m:sty m:val="p"/>
                                    </m:rPr>
                                    <a:rPr lang="de-DE" i="0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 xml:space="preserve"> 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nary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4" name="Formel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1507693"/>
                <a:ext cx="10652760" cy="9258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5" name="Rechteck: abgerundete Ecken 5"/>
          <p:cNvSpPr/>
          <p:nvPr/>
        </p:nvSpPr>
        <p:spPr>
          <a:xfrm>
            <a:off x="676656" y="2753559"/>
            <a:ext cx="10835640" cy="1737360"/>
          </a:xfrm>
          <a:prstGeom prst="roundRect">
            <a:avLst>
              <a:gd name="adj" fmla="val 2026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de-DE" sz="1733" dirty="0">
                <a:solidFill>
                  <a:srgbClr val="FFFFFF"/>
                </a:solidFill>
              </a:rPr>
              <a:t>Welche Annahmen des Hertzschen Dipols gelten beim Halbwellendipol nicht mehr?</a:t>
            </a:r>
            <a:endParaRPr lang="de-DE" sz="1733" dirty="0"/>
          </a:p>
        </p:txBody>
      </p:sp>
      <p:sp>
        <p:nvSpPr>
          <p:cNvPr id="6" name="Foliennummernplatzhalter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 xml:space="preserve">Seite </a:t>
            </a:r>
            <a:fld id="{EBA229B5-7CFD-BC45-B1DD-7E8FA6FF2A01}" type="slidenum">
              <a:rPr lang="de-DE" smtClean="0"/>
              <a:pPr/>
              <a:t>5</a:t>
            </a:fld>
            <a:endParaRPr lang="de-DE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Grundlagen</a:t>
            </a:r>
          </a:p>
        </p:txBody>
      </p:sp>
      <p:sp>
        <p:nvSpPr>
          <p:cNvPr id="3" name="Textfeld 3"/>
          <p:cNvSpPr txBox="1"/>
          <p:nvPr/>
        </p:nvSpPr>
        <p:spPr>
          <a:xfrm>
            <a:off x="768096" y="1115568"/>
            <a:ext cx="10652760" cy="3006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de-DE" sz="1733" dirty="0">
                <a:solidFill>
                  <a:srgbClr val="4C4D4C"/>
                </a:solidFill>
              </a:rPr>
              <a:t>Ausgangspunkt ist wieder das retardierte Vektorpotential:</a:t>
            </a:r>
            <a:endParaRPr lang="de-DE" sz="1733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Formel 4"/>
              <p:cNvSpPr txBox="1"/>
              <p:nvPr/>
            </p:nvSpPr>
            <p:spPr>
              <a:xfrm>
                <a:off x="768096" y="1507693"/>
                <a:ext cx="10652760" cy="92582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d>
                        <m:dPr>
                          <m:begChr m:val="("/>
                          <m:endChr m:val=")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nary>
                        <m:naryPr>
                          <m:chr m:val="∭"/>
                          <m:limLoc m:val="subSup"/>
                          <m:subHide m:val="off"/>
                          <m:supHide m:val="on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sub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⃗"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</m:acc>
                              <m:d>
                                <m:dPr>
                                  <m:begChr m:val="("/>
                                  <m:endChr m:val=")"/>
                                  <m:grow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de-DE" i="0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de-DE" i="0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type m:val="bar"/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d>
                                        <m:dPr>
                                          <m:begChr m:val="|"/>
                                          <m:endChr m:val="|"/>
                                          <m:grow/>
                                          <m:ctrlP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de-DE" i="1" sz="1733">
                                                  <a:solidFill>
                                                    <a:schemeClr val="tx1">
                                                      <a:lumMod val="85000"/>
                                                      <a:lumOff val="1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de-DE" i="1" sz="1733">
                                                  <a:solidFill>
                                                    <a:schemeClr val="tx1">
                                                      <a:lumMod val="85000"/>
                                                      <a:lumOff val="1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</m:acc>
                                          <m:r>
                                            <m:rPr>
                                              <m:sty m:val="p"/>
                                            </m:rPr>
                                            <a:rPr lang="de-DE" i="0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de-DE" i="1" sz="1733">
                                                  <a:solidFill>
                                                    <a:schemeClr val="tx1">
                                                      <a:lumMod val="85000"/>
                                                      <a:lumOff val="1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⃗"/>
                                                  <m:ctrlPr>
                                                    <a:rPr lang="de-DE" i="1" sz="1733">
                                                      <a:solidFill>
                                                        <a:schemeClr val="tx1">
                                                          <a:lumMod val="85000"/>
                                                          <a:lumOff val="1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de-DE" i="1" sz="1733">
                                                      <a:solidFill>
                                                        <a:schemeClr val="tx1">
                                                          <a:lumMod val="85000"/>
                                                          <a:lumOff val="1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𝑟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de-DE" i="1" sz="1733">
                                                  <a:solidFill>
                                                    <a:schemeClr val="tx1">
                                                      <a:lumMod val="85000"/>
                                                      <a:lumOff val="1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den>
                                  </m:f>
                                </m:e>
                              </m:d>
                            </m:num>
                            <m:den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begChr m:val="|"/>
                                  <m:endChr m:val="|"/>
                                  <m:grow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acc>
                                  <m:r>
                                    <m:rPr>
                                      <m:sty m:val="p"/>
                                    </m:rPr>
                                    <a:rPr lang="de-DE" i="0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 xml:space="preserve"> 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nary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4" name="Formel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1507693"/>
                <a:ext cx="10652760" cy="9258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5" name="Rechteck: abgerundete Ecken 5"/>
          <p:cNvSpPr/>
          <p:nvPr/>
        </p:nvSpPr>
        <p:spPr>
          <a:xfrm>
            <a:off x="676656" y="2753559"/>
            <a:ext cx="10835640" cy="2240280"/>
          </a:xfrm>
          <a:prstGeom prst="roundRect">
            <a:avLst>
              <a:gd name="adj" fmla="val 2026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548640" rIns="548640"/>
          <a:lstStyle/>
          <a:p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5" name="Textfeld 505"/>
              <p:cNvSpPr txBox="1"/>
              <p:nvPr/>
            </p:nvSpPr>
            <p:spPr>
              <a:xfrm>
                <a:off x="1225296" y="3326306"/>
                <a:ext cx="9738360" cy="109478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733" dirty="0">
                    <a:solidFill>
                      <a:srgbClr val="FFFFFF"/>
                    </a:solidFill>
                  </a:rPr>
                  <a:t>Welche Annahmen des Hertzschen Dipols gelten beim Halbwellendipol nicht mehr?</a:t>
                </a:r>
                <a:endParaRPr lang="de-DE" sz="1733" dirty="0"/>
              </a:p>
              <a:p>
                <a:pPr marL="0" indent="0" algn="l">
                  <a:lnSpc>
                    <a:spcPct val="100000"/>
                  </a:lnSpc>
                  <a:spcBef>
                    <a:spcPts val="1440"/>
                  </a:spcBef>
                  <a:buNone/>
                </a:pPr>
                <a:r>
                  <a:rPr lang="de-DE" sz="1733" b="1" dirty="0">
                    <a:solidFill>
                      <a:srgbClr val="FFFFFF"/>
                    </a:solidFill>
                  </a:rPr>
                  <a:t>1.</a:t>
                </a:r>
                <a:r>
                  <a:rPr lang="de-DE" sz="1733" dirty="0">
                    <a:solidFill>
                      <a:srgbClr val="FFFFFF"/>
                    </a:solidFill>
                  </a:rPr>
                  <a:t xml:space="preserve"> Die Stromverteilung entlang des Dipols ist </a:t>
                </a:r>
                <a:r>
                  <a:rPr lang="de-DE" sz="1733" b="1" dirty="0">
                    <a:solidFill>
                      <a:srgbClr val="FFFFFF"/>
                    </a:solidFill>
                  </a:rPr>
                  <a:t>nicht konstant</a:t>
                </a:r>
                <a:r>
                  <a:rPr lang="de-DE" sz="1733" dirty="0">
                    <a:solidFill>
                      <a:srgbClr val="FFFFFF"/>
                    </a:solidFill>
                  </a:rPr>
                  <a:t xml:space="preserve">: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 sz="1733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begChr m:val="("/>
                        <m:endChr m:val=")"/>
                        <m:grow/>
                        <m:ctrlPr>
                          <a:rPr lang="de-DE" i="1" sz="1733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i="1" sz="1733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 sz="1733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de-DE" i="1" sz="1733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</m:d>
                  </m:oMath>
                </a14:m>
                <a:endParaRPr lang="de-DE" sz="1733" dirty="0"/>
              </a:p>
              <a:p>
                <a:pPr marL="0" indent="0" algn="l">
                  <a:lnSpc>
                    <a:spcPct val="100000"/>
                  </a:lnSpc>
                  <a:spcBef>
                    <a:spcPts val="576"/>
                  </a:spcBef>
                  <a:buNone/>
                </a:pPr>
                <a:r>
                  <a:rPr lang="de-DE" sz="1733" b="1" dirty="0">
                    <a:solidFill>
                      <a:srgbClr val="FFFFFF"/>
                    </a:solidFill>
                  </a:rPr>
                  <a:t>2.</a:t>
                </a:r>
                <a:r>
                  <a:rPr lang="de-DE" sz="1733" dirty="0">
                    <a:solidFill>
                      <a:srgbClr val="FFFFFF"/>
                    </a:solidFill>
                  </a:rPr>
                  <a:t xml:space="preserve"> Laufzeitunterschiede zwischen den Stromelementen sind </a:t>
                </a:r>
                <a:r>
                  <a:rPr lang="de-DE" sz="1733" b="1" dirty="0">
                    <a:solidFill>
                      <a:srgbClr val="FFFFFF"/>
                    </a:solidFill>
                  </a:rPr>
                  <a:t>nicht vernachlässigbar</a:t>
                </a:r>
                <a:r>
                  <a:rPr lang="de-DE" sz="1733" dirty="0">
                    <a:solidFill>
                      <a:srgbClr val="FFFFFF"/>
                    </a:solidFill>
                  </a:rPr>
                  <a:t xml:space="preserve"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grow/>
                        <m:ctrlPr>
                          <a:rPr lang="de-DE" i="1" sz="1733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de-DE" i="1" sz="1733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i="1" sz="1733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de-DE" i="0" sz="1733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de-DE" i="1" sz="1733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de-DE" i="1" sz="1733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i="1" sz="1733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acc>
                          </m:e>
                          <m:sub>
                            <m:r>
                              <a:rPr lang="de-DE" i="1" sz="1733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de-DE" i="0" sz="1733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de-DE" i="1" sz="1733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de-DE" sz="1733" dirty="0"/>
              </a:p>
            </p:txBody>
          </p:sp>
        </mc:Choice>
        <mc:Fallback>
          <p:sp>
            <p:nvSpPr>
              <p:cNvPr id="505" name="Textfeld 5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5296" y="3326306"/>
                <a:ext cx="9738360" cy="10947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6" name="Foliennummernplatzhalter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 xml:space="preserve">Seite </a:t>
            </a:r>
            <a:fld id="{EBA229B5-7CFD-BC45-B1DD-7E8FA6FF2A01}" type="slidenum">
              <a:rPr lang="de-DE" smtClean="0"/>
              <a:pPr/>
              <a:t>6</a:t>
            </a:fld>
            <a:endParaRPr lang="de-DE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Stromverteilung</a:t>
            </a:r>
          </a:p>
        </p:txBody>
      </p:sp>
      <p:pic>
        <p:nvPicPr>
          <p:cNvPr id="3" name="Grafik 3" descr="Aufbiegen einer offenen Zweidrahtleitung zum Halbwellendipol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49528" y="1097280"/>
            <a:ext cx="9692640" cy="290049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feld 4"/>
              <p:cNvSpPr txBox="1"/>
              <p:nvPr/>
            </p:nvSpPr>
            <p:spPr>
              <a:xfrm>
                <a:off x="768096" y="4160520"/>
                <a:ext cx="10652760" cy="128597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228594" indent="-228594" algn="l">
                  <a:lnSpc>
                    <a:spcPct val="100000"/>
                  </a:lnSpc>
                  <a:spcBef>
                    <a:spcPts val="864"/>
                  </a:spcBef>
                  <a:buClr>
                    <a:srgbClr val="4C4D4C"/>
                  </a:buClr>
                  <a:buFont typeface="Wingdings" pitchFamily="2" charset="2"/>
                  <a:buChar char="§"/>
                </a:pPr>
                <a:r>
                  <a:rPr lang="de-DE" sz="1733" dirty="0">
                    <a:solidFill>
                      <a:srgbClr val="4C4D4C"/>
                    </a:solidFill>
                  </a:rPr>
                  <a:t>Offenes Leitungsende (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): Strom am Ende null → </a:t>
                </a:r>
                <a:r>
                  <a:rPr lang="de-DE" sz="1733" b="1" dirty="0">
                    <a:solidFill>
                      <a:srgbClr val="4C4D4C"/>
                    </a:solidFill>
                  </a:rPr>
                  <a:t>stehende Welle</a:t>
                </a:r>
                <a:r>
                  <a:rPr lang="de-DE" sz="1733" dirty="0">
                    <a:solidFill>
                      <a:srgbClr val="4C4D4C"/>
                    </a:solidFill>
                  </a:rPr>
                  <a:t xml:space="preserve"> mit Strommaximum im Abstand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vom Ende</a:t>
                </a:r>
                <a:endParaRPr lang="de-DE" sz="1733" dirty="0"/>
              </a:p>
              <a:p>
                <a:pPr marL="228594" indent="-228594" algn="l">
                  <a:lnSpc>
                    <a:spcPct val="100000"/>
                  </a:lnSpc>
                  <a:spcBef>
                    <a:spcPts val="864"/>
                  </a:spcBef>
                  <a:buClr>
                    <a:srgbClr val="4C4D4C"/>
                  </a:buClr>
                  <a:buFont typeface="Wingdings" pitchFamily="2" charset="2"/>
                  <a:buChar char="§"/>
                </a:pPr>
                <a:r>
                  <a:rPr lang="de-DE" sz="1733" dirty="0">
                    <a:solidFill>
                      <a:srgbClr val="4C4D4C"/>
                    </a:solidFill>
                  </a:rPr>
                  <a:t xml:space="preserve">Biegt man die letzten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der Leitung auf, bleibt die Stromverteilung näherungsweise erhalten</a:t>
                </a:r>
                <a:endParaRPr lang="de-DE" sz="1733" dirty="0"/>
              </a:p>
              <a:p>
                <a:pPr marL="228594" indent="-228594" algn="l">
                  <a:lnSpc>
                    <a:spcPct val="100000"/>
                  </a:lnSpc>
                  <a:spcBef>
                    <a:spcPts val="864"/>
                  </a:spcBef>
                  <a:buClr>
                    <a:srgbClr val="4C4D4C"/>
                  </a:buClr>
                  <a:buFont typeface="Wingdings" pitchFamily="2" charset="2"/>
                  <a:buChar char="§"/>
                </a:pPr>
                <a:r>
                  <a:rPr lang="de-DE" sz="1733" dirty="0">
                    <a:solidFill>
                      <a:srgbClr val="4C4D4C"/>
                    </a:solidFill>
                  </a:rPr>
                  <a:t xml:space="preserve">Leitung: Ströme entgegengesetzt → Felder heben sich auf.  Dipol: Ströme gleichgerichtet → </a:t>
                </a:r>
                <a:r>
                  <a:rPr lang="de-DE" sz="1733" b="1" dirty="0">
                    <a:solidFill>
                      <a:srgbClr val="4C4D4C"/>
                    </a:solidFill>
                  </a:rPr>
                  <a:t>Abstrahlung</a:t>
                </a:r>
                <a:endParaRPr lang="de-DE" sz="1733" dirty="0"/>
              </a:p>
            </p:txBody>
          </p:sp>
        </mc:Choice>
        <mc:Fallback>
          <p:sp>
            <p:nvSpPr>
              <p:cNvPr id="4" name="Textfeld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4160520"/>
                <a:ext cx="10652760" cy="12859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5" name="Foliennummernplatzhalt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 xml:space="preserve">Seite </a:t>
            </a:r>
            <a:fld id="{EBA229B5-7CFD-BC45-B1DD-7E8FA6FF2A01}" type="slidenum">
              <a:rPr lang="de-DE" smtClean="0"/>
              <a:pPr/>
              <a:t>7</a:t>
            </a:fld>
            <a:endParaRPr lang="de-DE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Stromverteilung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feld 3"/>
              <p:cNvSpPr txBox="1"/>
              <p:nvPr/>
            </p:nvSpPr>
            <p:spPr>
              <a:xfrm>
                <a:off x="768096" y="1115568"/>
                <a:ext cx="6720840" cy="52536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733" dirty="0">
                    <a:solidFill>
                      <a:srgbClr val="4C4D4C"/>
                    </a:solidFill>
                  </a:rPr>
                  <a:t xml:space="preserve">Für einen dünnen, mittig gespeisten Dipol der Länge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gilt näherungsweise eine sinusförmige Stromverteilung:</a:t>
                </a:r>
                <a:endParaRPr lang="de-DE" sz="1733" dirty="0"/>
              </a:p>
            </p:txBody>
          </p:sp>
        </mc:Choice>
        <mc:Fallback>
          <p:sp>
            <p:nvSpPr>
              <p:cNvPr id="3" name="Textfeld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1115568"/>
                <a:ext cx="6720840" cy="5253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Formel 4"/>
              <p:cNvSpPr txBox="1"/>
              <p:nvPr/>
            </p:nvSpPr>
            <p:spPr>
              <a:xfrm>
                <a:off x="768096" y="1732372"/>
                <a:ext cx="6720840" cy="63530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begChr m:val="("/>
                          <m:endChr m:val=")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begChr m:val="("/>
                          <m:endChr m:val=")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begChr m:val="("/>
                              <m:endChr m:val=")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|"/>
                                  <m:endChr m:val="|"/>
                                  <m:grow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  </m:t>
                      </m:r>
                      <m:d>
                        <m:dPr>
                          <m:begChr m:val="|"/>
                          <m:endChr m:val="|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4" name="Formel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1732372"/>
                <a:ext cx="6720840" cy="6353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feld 5"/>
              <p:cNvSpPr txBox="1"/>
              <p:nvPr/>
            </p:nvSpPr>
            <p:spPr>
              <a:xfrm>
                <a:off x="768096" y="2596278"/>
                <a:ext cx="6720840" cy="29260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733" dirty="0">
                    <a:solidFill>
                      <a:srgbClr val="4C4D4C"/>
                    </a:solidFill>
                  </a:rPr>
                  <a:t>Für den Halbwellendipol (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,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) gilt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 xml:space="preserve"> 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>:</a:t>
                </a:r>
                <a:endParaRPr lang="de-DE" sz="1733" dirty="0"/>
              </a:p>
            </p:txBody>
          </p:sp>
        </mc:Choice>
        <mc:Fallback>
          <p:sp>
            <p:nvSpPr>
              <p:cNvPr id="5" name="Textfeld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2596278"/>
                <a:ext cx="6720840" cy="2926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Formel 6"/>
              <p:cNvSpPr txBox="1"/>
              <p:nvPr/>
            </p:nvSpPr>
            <p:spPr>
              <a:xfrm>
                <a:off x="768096" y="2980326"/>
                <a:ext cx="6720840" cy="563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begChr m:val="("/>
                          <m:endChr m:val=")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begChr m:val="("/>
                          <m:endChr m:val=")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begChr m:val="|"/>
                              <m:endChr m:val="|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begChr m:val="("/>
                          <m:endChr m:val=")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6" name="Formel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2980326"/>
                <a:ext cx="6720840" cy="5639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7" name="Textfeld 7"/>
          <p:cNvSpPr txBox="1"/>
          <p:nvPr/>
        </p:nvSpPr>
        <p:spPr>
          <a:xfrm>
            <a:off x="768096" y="3772921"/>
            <a:ext cx="6720840" cy="3006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de-DE" sz="1733" dirty="0">
                <a:solidFill>
                  <a:srgbClr val="4C4D4C"/>
                </a:solidFill>
              </a:rPr>
              <a:t>Bei harmonischer Anregung:</a:t>
            </a:r>
            <a:endParaRPr lang="de-DE" sz="1733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el 8"/>
              <p:cNvSpPr txBox="1"/>
              <p:nvPr/>
            </p:nvSpPr>
            <p:spPr>
              <a:xfrm>
                <a:off x="768096" y="4165047"/>
                <a:ext cx="6720840" cy="4293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begChr m:val="("/>
                          <m:endChr m:val=")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begChr m:val="("/>
                          <m:endChr m:val=")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d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sSup>
                        <m:sSup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8" name="Formel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4165047"/>
                <a:ext cx="6720840" cy="4293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feld 9"/>
              <p:cNvSpPr txBox="1"/>
              <p:nvPr/>
            </p:nvSpPr>
            <p:spPr>
              <a:xfrm>
                <a:off x="768096" y="4822947"/>
                <a:ext cx="6720840" cy="28845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>: Strom am Speisepunkt (= Strommaximum)</a:t>
                </a:r>
                <a:endParaRPr lang="de-DE" sz="1733" dirty="0"/>
              </a:p>
            </p:txBody>
          </p:sp>
        </mc:Choice>
        <mc:Fallback>
          <p:sp>
            <p:nvSpPr>
              <p:cNvPr id="9" name="Textfeld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4822947"/>
                <a:ext cx="6720840" cy="2884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pic>
        <p:nvPicPr>
          <p:cNvPr id="10" name="Grafik 10" descr="Stromverteilung Halbwellendipol vs. Hertzscher Dipol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7818120" y="1463040"/>
            <a:ext cx="3749040" cy="2919149"/>
          </a:xfrm>
          <a:prstGeom prst="rect">
            <a:avLst/>
          </a:prstGeom>
        </p:spPr>
      </p:pic>
      <p:sp>
        <p:nvSpPr>
          <p:cNvPr id="11" name="Foliennummernplatzhalt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 xml:space="preserve">Seite </a:t>
            </a:r>
            <a:fld id="{EBA229B5-7CFD-BC45-B1DD-7E8FA6FF2A01}" type="slidenum">
              <a:rPr lang="de-DE" smtClean="0"/>
              <a:pPr/>
              <a:t>8</a:t>
            </a:fld>
            <a:endParaRPr lang="de-DE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Lösung der Wellengleichung</a:t>
            </a:r>
          </a:p>
        </p:txBody>
      </p:sp>
      <p:sp>
        <p:nvSpPr>
          <p:cNvPr id="3" name="Textfeld 3"/>
          <p:cNvSpPr txBox="1"/>
          <p:nvPr/>
        </p:nvSpPr>
        <p:spPr>
          <a:xfrm>
            <a:off x="768096" y="1115568"/>
            <a:ext cx="6720840" cy="3006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de-DE" sz="1733" dirty="0">
                <a:solidFill>
                  <a:srgbClr val="4C4D4C"/>
                </a:solidFill>
              </a:rPr>
              <a:t>Wir betrachten dazu wieder das retardierte Vektorpotential:</a:t>
            </a:r>
            <a:endParaRPr lang="de-DE" sz="1733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Formel 4"/>
              <p:cNvSpPr txBox="1"/>
              <p:nvPr/>
            </p:nvSpPr>
            <p:spPr>
              <a:xfrm>
                <a:off x="768096" y="1461973"/>
                <a:ext cx="6720840" cy="92582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d>
                        <m:dPr>
                          <m:begChr m:val="("/>
                          <m:endChr m:val=")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nary>
                        <m:naryPr>
                          <m:chr m:val="∭"/>
                          <m:limLoc m:val="subSup"/>
                          <m:subHide m:val="off"/>
                          <m:supHide m:val="on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sub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⃗"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</m:acc>
                              <m:d>
                                <m:dPr>
                                  <m:begChr m:val="("/>
                                  <m:endChr m:val=")"/>
                                  <m:grow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de-DE" i="0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de-DE" i="0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type m:val="bar"/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d>
                                        <m:dPr>
                                          <m:begChr m:val="|"/>
                                          <m:endChr m:val="|"/>
                                          <m:grow/>
                                          <m:ctrlP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de-DE" i="1" sz="1733">
                                                  <a:solidFill>
                                                    <a:schemeClr val="tx1">
                                                      <a:lumMod val="85000"/>
                                                      <a:lumOff val="1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de-DE" i="1" sz="1733">
                                                  <a:solidFill>
                                                    <a:schemeClr val="tx1">
                                                      <a:lumMod val="85000"/>
                                                      <a:lumOff val="1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</m:acc>
                                          <m:r>
                                            <m:rPr>
                                              <m:sty m:val="p"/>
                                            </m:rPr>
                                            <a:rPr lang="de-DE" i="0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de-DE" i="1" sz="1733">
                                                  <a:solidFill>
                                                    <a:schemeClr val="tx1">
                                                      <a:lumMod val="85000"/>
                                                      <a:lumOff val="1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⃗"/>
                                                  <m:ctrlPr>
                                                    <a:rPr lang="de-DE" i="1" sz="1733">
                                                      <a:solidFill>
                                                        <a:schemeClr val="tx1">
                                                          <a:lumMod val="85000"/>
                                                          <a:lumOff val="1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de-DE" i="1" sz="1733">
                                                      <a:solidFill>
                                                        <a:schemeClr val="tx1">
                                                          <a:lumMod val="85000"/>
                                                          <a:lumOff val="1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𝑟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de-DE" i="1" sz="1733">
                                                  <a:solidFill>
                                                    <a:schemeClr val="tx1">
                                                      <a:lumMod val="85000"/>
                                                      <a:lumOff val="1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den>
                                  </m:f>
                                </m:e>
                              </m:d>
                            </m:num>
                            <m:den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begChr m:val="|"/>
                                  <m:endChr m:val="|"/>
                                  <m:grow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acc>
                                  <m:r>
                                    <m:rPr>
                                      <m:sty m:val="p"/>
                                    </m:rPr>
                                    <a:rPr lang="de-DE" i="0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 xml:space="preserve"> 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nary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4" name="Formel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1461973"/>
                <a:ext cx="6720840" cy="9258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feld 5"/>
              <p:cNvSpPr txBox="1"/>
              <p:nvPr/>
            </p:nvSpPr>
            <p:spPr>
              <a:xfrm>
                <a:off x="768096" y="2433519"/>
                <a:ext cx="6720840" cy="54614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733" dirty="0">
                    <a:solidFill>
                      <a:srgbClr val="4C4D4C"/>
                    </a:solidFill>
                  </a:rPr>
                  <a:t xml:space="preserve">Dünner Draht entlang der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-Achse – die Integration über den Leiterquerschnitt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liefert den Strom:</a:t>
                </a:r>
                <a:endParaRPr lang="de-DE" sz="1733" dirty="0"/>
              </a:p>
            </p:txBody>
          </p:sp>
        </mc:Choice>
        <mc:Fallback>
          <p:sp>
            <p:nvSpPr>
              <p:cNvPr id="5" name="Textfeld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2433519"/>
                <a:ext cx="6720840" cy="5461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Formel 6"/>
              <p:cNvSpPr txBox="1"/>
              <p:nvPr/>
            </p:nvSpPr>
            <p:spPr>
              <a:xfrm>
                <a:off x="768096" y="3025385"/>
                <a:ext cx="6720840" cy="666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acc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6" name="Formel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3025385"/>
                <a:ext cx="6720840" cy="666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7" name="Textfeld 7"/>
          <p:cNvSpPr txBox="1"/>
          <p:nvPr/>
        </p:nvSpPr>
        <p:spPr>
          <a:xfrm>
            <a:off x="768096" y="3738103"/>
            <a:ext cx="6720840" cy="3006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de-DE" sz="1733" dirty="0">
                <a:solidFill>
                  <a:srgbClr val="4C4D4C"/>
                </a:solidFill>
              </a:rPr>
              <a:t>Das Volumenintegral wird zum Linienintegral über die Dipollänge:</a:t>
            </a:r>
            <a:endParaRPr lang="de-DE" sz="1733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el 8"/>
              <p:cNvSpPr txBox="1"/>
              <p:nvPr/>
            </p:nvSpPr>
            <p:spPr>
              <a:xfrm>
                <a:off x="768096" y="4084508"/>
                <a:ext cx="6720840" cy="90469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d>
                        <m:dPr>
                          <m:begChr m:val="("/>
                          <m:endChr m:val=")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hr m:val="∫"/>
                          <m:limLoc m:val="subSup"/>
                          <m:subHide m:val="off"/>
                          <m:supHide m:val="off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d>
                                <m:dPr>
                                  <m:begChr m:val="("/>
                                  <m:endChr m:val=")"/>
                                  <m:grow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de-DE" i="0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de-DE" i="0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type m:val="bar"/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d>
                                        <m:dPr>
                                          <m:begChr m:val="|"/>
                                          <m:endChr m:val="|"/>
                                          <m:grow/>
                                          <m:ctrlP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de-DE" i="1" sz="1733">
                                                  <a:solidFill>
                                                    <a:schemeClr val="tx1">
                                                      <a:lumMod val="85000"/>
                                                      <a:lumOff val="1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de-DE" i="1" sz="1733">
                                                  <a:solidFill>
                                                    <a:schemeClr val="tx1">
                                                      <a:lumMod val="85000"/>
                                                      <a:lumOff val="1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</m:acc>
                                          <m:r>
                                            <m:rPr>
                                              <m:sty m:val="p"/>
                                            </m:rPr>
                                            <a:rPr lang="de-DE" i="0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de-DE" i="1" sz="1733">
                                                  <a:solidFill>
                                                    <a:schemeClr val="tx1">
                                                      <a:lumMod val="85000"/>
                                                      <a:lumOff val="1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⃗"/>
                                                  <m:ctrlPr>
                                                    <a:rPr lang="de-DE" i="1" sz="1733">
                                                      <a:solidFill>
                                                        <a:schemeClr val="tx1">
                                                          <a:lumMod val="85000"/>
                                                          <a:lumOff val="1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de-DE" i="1" sz="1733">
                                                      <a:solidFill>
                                                        <a:schemeClr val="tx1">
                                                          <a:lumMod val="85000"/>
                                                          <a:lumOff val="1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𝑟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de-DE" i="1" sz="1733">
                                                  <a:solidFill>
                                                    <a:schemeClr val="tx1">
                                                      <a:lumMod val="85000"/>
                                                      <a:lumOff val="1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den>
                                  </m:f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grow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acc>
                                  <m:r>
                                    <m:rPr>
                                      <m:sty m:val="p"/>
                                    </m:rPr>
                                    <a:rPr lang="de-DE" i="0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 xml:space="preserve"> 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8" name="Formel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4084508"/>
                <a:ext cx="6720840" cy="9046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feld 9"/>
              <p:cNvSpPr txBox="1"/>
              <p:nvPr/>
            </p:nvSpPr>
            <p:spPr>
              <a:xfrm>
                <a:off x="768096" y="5034925"/>
                <a:ext cx="6720840" cy="60017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733" b="1" dirty="0">
                    <a:solidFill>
                      <a:srgbClr val="4C4D4C"/>
                    </a:solidFill>
                  </a:rPr>
                  <a:t xml:space="preserve">→ Überlagerung unendlich vieler Hertzscher Dipole der Länge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de-DE" sz="1733" b="1" dirty="0">
                    <a:solidFill>
                      <a:srgbClr val="4C4D4C"/>
                    </a:solidFill>
                  </a:rPr>
                  <a:t xml:space="preserve"> mit dem Strom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begChr m:val="("/>
                        <m:endChr m:val=")"/>
                        <m:grow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</m:d>
                  </m:oMath>
                </a14:m>
                <a:r>
                  <a:rPr lang="de-DE" sz="1733" b="1" dirty="0">
                    <a:solidFill>
                      <a:srgbClr val="4C4D4C"/>
                    </a:solidFill>
                  </a:rPr>
                  <a:t>!</a:t>
                </a:r>
                <a:endParaRPr lang="de-DE" sz="1733" dirty="0"/>
              </a:p>
            </p:txBody>
          </p:sp>
        </mc:Choice>
        <mc:Fallback>
          <p:sp>
            <p:nvSpPr>
              <p:cNvPr id="9" name="Textfeld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5034925"/>
                <a:ext cx="6720840" cy="60017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pic>
        <p:nvPicPr>
          <p:cNvPr id="10" name="Grafik 10" descr="Geometrie: Quellpunkt und Aufpunkt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046720" y="1234440"/>
            <a:ext cx="4042877" cy="4297680"/>
          </a:xfrm>
          <a:prstGeom prst="rect">
            <a:avLst/>
          </a:prstGeom>
        </p:spPr>
      </p:pic>
      <p:sp>
        <p:nvSpPr>
          <p:cNvPr id="11" name="Foliennummernplatzhalt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 xml:space="preserve">Seite </a:t>
            </a:r>
            <a:fld id="{EBA229B5-7CFD-BC45-B1DD-7E8FA6FF2A01}" type="slidenum">
              <a:rPr lang="de-DE" smtClean="0"/>
              <a:pPr/>
              <a:t>9</a:t>
            </a:fld>
            <a:endParaRPr lang="de-DE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Lösung der Wellengleichung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Formel 3"/>
              <p:cNvSpPr txBox="1"/>
              <p:nvPr/>
            </p:nvSpPr>
            <p:spPr>
              <a:xfrm>
                <a:off x="768096" y="1115568"/>
                <a:ext cx="10652760" cy="90469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d>
                        <m:dPr>
                          <m:begChr m:val="("/>
                          <m:endChr m:val=")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hr m:val="∫"/>
                          <m:limLoc m:val="subSup"/>
                          <m:subHide m:val="off"/>
                          <m:supHide m:val="off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d>
                                <m:dPr>
                                  <m:begChr m:val="("/>
                                  <m:endChr m:val=")"/>
                                  <m:grow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de-DE" i="0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de-DE" i="0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type m:val="bar"/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d>
                                        <m:dPr>
                                          <m:begChr m:val="|"/>
                                          <m:endChr m:val="|"/>
                                          <m:grow/>
                                          <m:ctrlP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de-DE" i="1" sz="1733">
                                                  <a:solidFill>
                                                    <a:schemeClr val="tx1">
                                                      <a:lumMod val="85000"/>
                                                      <a:lumOff val="1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de-DE" i="1" sz="1733">
                                                  <a:solidFill>
                                                    <a:schemeClr val="tx1">
                                                      <a:lumMod val="85000"/>
                                                      <a:lumOff val="1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</m:acc>
                                          <m:r>
                                            <m:rPr>
                                              <m:sty m:val="p"/>
                                            </m:rPr>
                                            <a:rPr lang="de-DE" i="0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de-DE" i="1" sz="1733">
                                                  <a:solidFill>
                                                    <a:schemeClr val="tx1">
                                                      <a:lumMod val="85000"/>
                                                      <a:lumOff val="1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⃗"/>
                                                  <m:ctrlPr>
                                                    <a:rPr lang="de-DE" i="1" sz="1733">
                                                      <a:solidFill>
                                                        <a:schemeClr val="tx1">
                                                          <a:lumMod val="85000"/>
                                                          <a:lumOff val="1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de-DE" i="1" sz="1733">
                                                      <a:solidFill>
                                                        <a:schemeClr val="tx1">
                                                          <a:lumMod val="85000"/>
                                                          <a:lumOff val="1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𝑟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de-DE" i="1" sz="1733">
                                                  <a:solidFill>
                                                    <a:schemeClr val="tx1">
                                                      <a:lumMod val="85000"/>
                                                      <a:lumOff val="1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den>
                                  </m:f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grow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acc>
                                  <m:r>
                                    <m:rPr>
                                      <m:sty m:val="p"/>
                                    </m:rPr>
                                    <a:rPr lang="de-DE" i="0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 xml:space="preserve"> 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3" name="Formel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1115568"/>
                <a:ext cx="10652760" cy="9046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4" name="Textfeld 4"/>
          <p:cNvSpPr txBox="1"/>
          <p:nvPr/>
        </p:nvSpPr>
        <p:spPr>
          <a:xfrm>
            <a:off x="768096" y="2157425"/>
            <a:ext cx="10652760" cy="3006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de-DE" sz="1733" dirty="0">
                <a:solidFill>
                  <a:srgbClr val="4C4D4C"/>
                </a:solidFill>
              </a:rPr>
              <a:t>Harmonische Anregung mit der Stromverteilung des Halbwellendipols:</a:t>
            </a:r>
            <a:endParaRPr lang="de-DE" sz="1733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Formel 5"/>
              <p:cNvSpPr txBox="1"/>
              <p:nvPr/>
            </p:nvSpPr>
            <p:spPr>
              <a:xfrm>
                <a:off x="768096" y="2549550"/>
                <a:ext cx="10652760" cy="82018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begChr m:val="("/>
                          <m:endChr m:val=")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grow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acc>
                                  <m:r>
                                    <m:rPr>
                                      <m:sty m:val="p"/>
                                    </m:rPr>
                                    <a:rPr lang="de-DE" i="0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begChr m:val="("/>
                          <m:endChr m:val=")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d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sSup>
                        <m:sSup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d>
                            <m:dPr>
                              <m:begChr m:val="("/>
                              <m:endChr m:val=")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grow/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</m:acc>
                                      <m:r>
                                        <m:rPr>
                                          <m:sty m:val="p"/>
                                        </m:rPr>
                                        <a:rPr lang="de-DE" i="0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de-DE" i="1" sz="1733">
                                                  <a:solidFill>
                                                    <a:schemeClr val="tx1">
                                                      <a:lumMod val="85000"/>
                                                      <a:lumOff val="1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de-DE" i="1" sz="1733">
                                                  <a:solidFill>
                                                    <a:schemeClr val="tx1">
                                                      <a:lumMod val="85000"/>
                                                      <a:lumOff val="1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begChr m:val="("/>
                          <m:endChr m:val=")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d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sSup>
                        <m:sSup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p>
                        <m:sSup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begChr m:val="|"/>
                              <m:endChr m:val="|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5" name="Formel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2549550"/>
                <a:ext cx="10652760" cy="8201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feld 6"/>
              <p:cNvSpPr txBox="1"/>
              <p:nvPr/>
            </p:nvSpPr>
            <p:spPr>
              <a:xfrm>
                <a:off x="768096" y="3506892"/>
                <a:ext cx="10652760" cy="29260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733" dirty="0">
                    <a:solidFill>
                      <a:srgbClr val="4C4D4C"/>
                    </a:solidFill>
                  </a:rPr>
                  <a:t xml:space="preserve">Mit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folgt:</a:t>
                </a:r>
                <a:endParaRPr lang="de-DE" sz="1733" dirty="0"/>
              </a:p>
            </p:txBody>
          </p:sp>
        </mc:Choice>
        <mc:Fallback>
          <p:sp>
            <p:nvSpPr>
              <p:cNvPr id="6" name="Textfeld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3506892"/>
                <a:ext cx="10652760" cy="2926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el 7"/>
              <p:cNvSpPr txBox="1"/>
              <p:nvPr/>
            </p:nvSpPr>
            <p:spPr>
              <a:xfrm>
                <a:off x="768096" y="3890940"/>
                <a:ext cx="10652760" cy="79641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d>
                        <m:dPr>
                          <m:begChr m:val="("/>
                          <m:endChr m:val=")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hr m:val="∫"/>
                          <m:limLoc m:val="subSup"/>
                          <m:subHide m:val="off"/>
                          <m:supHide m:val="off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("/>
                              <m:endChr m:val=")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</m:e>
                          </m:d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 xml:space="preserve"> </m:t>
                          </m:r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de-DE" i="0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grow/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</m:acc>
                                      <m:r>
                                        <m:rPr>
                                          <m:sty m:val="p"/>
                                        </m:rPr>
                                        <a:rPr lang="de-DE" i="0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de-DE" i="1" sz="1733">
                                                  <a:solidFill>
                                                    <a:schemeClr val="tx1">
                                                      <a:lumMod val="85000"/>
                                                      <a:lumOff val="1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de-DE" i="1" sz="1733">
                                                  <a:solidFill>
                                                    <a:schemeClr val="tx1">
                                                      <a:lumMod val="85000"/>
                                                      <a:lumOff val="1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sub>
                                      </m:sSub>
                                    </m:e>
                                  </m:d>
                                </m:sup>
                              </m:sSup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grow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acc>
                                  <m:r>
                                    <m:rPr>
                                      <m:sty m:val="p"/>
                                    </m:rPr>
                                    <a:rPr lang="de-DE" i="0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 xml:space="preserve"> 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7" name="Formel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3890940"/>
                <a:ext cx="10652760" cy="7964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feld 8"/>
              <p:cNvSpPr txBox="1"/>
              <p:nvPr/>
            </p:nvSpPr>
            <p:spPr>
              <a:xfrm>
                <a:off x="768096" y="4824512"/>
                <a:ext cx="10652760" cy="31754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733" b="1" dirty="0">
                    <a:solidFill>
                      <a:srgbClr val="4C4D4C"/>
                    </a:solidFill>
                  </a:rPr>
                  <a:t>Problem:</a:t>
                </a:r>
                <a:r>
                  <a:rPr lang="de-DE" sz="1733" dirty="0">
                    <a:solidFill>
                      <a:srgbClr val="4C4D4C"/>
                    </a:solidFill>
                  </a:rPr>
                  <a:t xml:space="preserve"> Der Abstand hängt von der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des Stromelements ab (Kosinussatz):</a:t>
                </a:r>
                <a:endParaRPr lang="de-DE" sz="1733" dirty="0"/>
              </a:p>
            </p:txBody>
          </p:sp>
        </mc:Choice>
        <mc:Fallback>
          <p:sp>
            <p:nvSpPr>
              <p:cNvPr id="8" name="Textfeld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4824512"/>
                <a:ext cx="10652760" cy="31754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el 9"/>
              <p:cNvSpPr txBox="1"/>
              <p:nvPr/>
            </p:nvSpPr>
            <p:spPr>
              <a:xfrm>
                <a:off x="768096" y="5233498"/>
                <a:ext cx="10652760" cy="56663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  <m:sup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 xml:space="preserve"> 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 xml:space="preserve"> </m:t>
                          </m:r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𝜗</m:t>
                          </m:r>
                        </m:e>
                      </m:rad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9" name="Formel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5233498"/>
                <a:ext cx="10652760" cy="56663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10" name="Foliennummernplatzhalter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 xml:space="preserve">Seite </a:t>
            </a:r>
            <a:fld id="{EBA229B5-7CFD-BC45-B1DD-7E8FA6FF2A01}" type="slidenum">
              <a:rPr lang="de-DE" smtClean="0"/>
              <a:pPr/>
              <a:t>10</a:t>
            </a:fld>
            <a:endParaRPr lang="de-DE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Lösung der Wellengleichung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Formel 3"/>
              <p:cNvSpPr txBox="1"/>
              <p:nvPr/>
            </p:nvSpPr>
            <p:spPr>
              <a:xfrm>
                <a:off x="768096" y="1115568"/>
                <a:ext cx="6720840" cy="83074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ad>
                        <m:radPr>
                          <m:degHide m:val="on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𝜗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  <m:sup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p>
                                <m:sSup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3" name="Formel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1115568"/>
                <a:ext cx="6720840" cy="8307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feld 4"/>
              <p:cNvSpPr txBox="1"/>
              <p:nvPr/>
            </p:nvSpPr>
            <p:spPr>
              <a:xfrm>
                <a:off x="768096" y="2037754"/>
                <a:ext cx="6720840" cy="34664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733" dirty="0">
                    <a:solidFill>
                      <a:srgbClr val="4C4D4C"/>
                    </a:solidFill>
                  </a:rPr>
                  <a:t xml:space="preserve">Für große Abstände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≫</m:t>
                    </m:r>
                    <m:sSub>
                      <m:sSub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(Taylor: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de-DE" i="0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>):</a:t>
                </a:r>
                <a:endParaRPr lang="de-DE" sz="1733" dirty="0"/>
              </a:p>
            </p:txBody>
          </p:sp>
        </mc:Choice>
        <mc:Fallback>
          <p:sp>
            <p:nvSpPr>
              <p:cNvPr id="4" name="Textfeld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2037754"/>
                <a:ext cx="6720840" cy="3466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Formel 5"/>
              <p:cNvSpPr txBox="1"/>
              <p:nvPr/>
            </p:nvSpPr>
            <p:spPr>
              <a:xfrm>
                <a:off x="768096" y="2475835"/>
                <a:ext cx="6720840" cy="43458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𝜗</m:t>
                      </m:r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5" name="Formel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2475835"/>
                <a:ext cx="6720840" cy="4345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6" name="Textfeld 6"/>
          <p:cNvSpPr txBox="1"/>
          <p:nvPr/>
        </p:nvSpPr>
        <p:spPr>
          <a:xfrm>
            <a:off x="768096" y="3075009"/>
            <a:ext cx="6720840" cy="5647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de-DE" sz="1733" dirty="0">
                <a:solidFill>
                  <a:srgbClr val="4C4D4C"/>
                </a:solidFill>
              </a:rPr>
              <a:t xml:space="preserve">→ Die Verbindungslinien von Stromelement und Ursprung zum Aufpunkt sind nahezu </a:t>
            </a:r>
            <a:r>
              <a:rPr lang="de-DE" sz="1733" b="1" dirty="0">
                <a:solidFill>
                  <a:srgbClr val="4C4D4C"/>
                </a:solidFill>
              </a:rPr>
              <a:t>parallel</a:t>
            </a:r>
            <a:r>
              <a:rPr lang="de-DE" sz="1733" dirty="0">
                <a:solidFill>
                  <a:srgbClr val="4C4D4C"/>
                </a:solidFill>
              </a:rPr>
              <a:t>.</a:t>
            </a:r>
            <a:endParaRPr lang="de-DE" sz="1733" dirty="0"/>
          </a:p>
        </p:txBody>
      </p:sp>
      <p:sp>
        <p:nvSpPr>
          <p:cNvPr id="7" name="Rechteck: abgerundete Ecken 7"/>
          <p:cNvSpPr/>
          <p:nvPr/>
        </p:nvSpPr>
        <p:spPr>
          <a:xfrm>
            <a:off x="676656" y="3959844"/>
            <a:ext cx="6903720" cy="1600200"/>
          </a:xfrm>
          <a:prstGeom prst="roundRect">
            <a:avLst>
              <a:gd name="adj" fmla="val 2026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7" name="Textfeld 507"/>
              <p:cNvSpPr txBox="1"/>
              <p:nvPr/>
            </p:nvSpPr>
            <p:spPr>
              <a:xfrm>
                <a:off x="905256" y="4509730"/>
                <a:ext cx="6446520" cy="50042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733" dirty="0">
                    <a:solidFill>
                      <a:srgbClr val="FFFFFF"/>
                    </a:solidFill>
                  </a:rPr>
                  <a:t xml:space="preserve">Dürfen wir – wie beim Hertzschen Dipol – einfach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grow/>
                        <m:ctrlPr>
                          <a:rPr lang="de-DE" i="1" sz="1733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de-DE" i="1" sz="1733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i="1" sz="1733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de-DE" i="0" sz="1733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de-DE" i="1" sz="1733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de-DE" i="1" sz="1733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i="1" sz="1733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acc>
                          </m:e>
                          <m:sub>
                            <m:r>
                              <a:rPr lang="de-DE" i="1" sz="1733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de-DE" i="0" sz="1733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de-DE" i="1" sz="1733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de-DE" sz="1733" dirty="0">
                    <a:solidFill>
                      <a:srgbClr val="FFFFFF"/>
                    </a:solidFill>
                  </a:rPr>
                  <a:t xml:space="preserve"> setzen?</a:t>
                </a:r>
                <a:endParaRPr lang="de-DE" sz="1733" dirty="0"/>
              </a:p>
            </p:txBody>
          </p:sp>
        </mc:Choice>
        <mc:Fallback>
          <p:sp>
            <p:nvSpPr>
              <p:cNvPr id="507" name="Textfeld 5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6" y="4509730"/>
                <a:ext cx="6446520" cy="5004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pic>
        <p:nvPicPr>
          <p:cNvPr id="8" name="Grafik 8" descr="Fernfeldnäherung: parallele Strahlen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818120" y="1325880"/>
            <a:ext cx="3749040" cy="4435086"/>
          </a:xfrm>
          <a:prstGeom prst="rect">
            <a:avLst/>
          </a:prstGeom>
        </p:spPr>
      </p:pic>
      <p:sp>
        <p:nvSpPr>
          <p:cNvPr id="9" name="Foliennummernplatzhalter 9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 xml:space="preserve">Seite </a:t>
            </a:r>
            <a:fld id="{EBA229B5-7CFD-BC45-B1DD-7E8FA6FF2A01}" type="slidenum">
              <a:rPr lang="de-DE" smtClean="0"/>
              <a:pPr/>
              <a:t>11</a:t>
            </a:fld>
            <a:endParaRPr lang="de-DE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Lösung der Wellengleichung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Formel 3"/>
              <p:cNvSpPr txBox="1"/>
              <p:nvPr/>
            </p:nvSpPr>
            <p:spPr>
              <a:xfrm>
                <a:off x="768096" y="1115568"/>
                <a:ext cx="6720840" cy="83074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ad>
                        <m:radPr>
                          <m:degHide m:val="on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𝜗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  <m:sup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p>
                                <m:sSup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3" name="Formel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1115568"/>
                <a:ext cx="6720840" cy="8307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feld 4"/>
              <p:cNvSpPr txBox="1"/>
              <p:nvPr/>
            </p:nvSpPr>
            <p:spPr>
              <a:xfrm>
                <a:off x="768096" y="2037754"/>
                <a:ext cx="6720840" cy="34664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733" dirty="0">
                    <a:solidFill>
                      <a:srgbClr val="4C4D4C"/>
                    </a:solidFill>
                  </a:rPr>
                  <a:t xml:space="preserve">Für große Abstände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≫</m:t>
                    </m:r>
                    <m:sSub>
                      <m:sSub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(Taylor: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de-DE" i="0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>):</a:t>
                </a:r>
                <a:endParaRPr lang="de-DE" sz="1733" dirty="0"/>
              </a:p>
            </p:txBody>
          </p:sp>
        </mc:Choice>
        <mc:Fallback>
          <p:sp>
            <p:nvSpPr>
              <p:cNvPr id="4" name="Textfeld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2037754"/>
                <a:ext cx="6720840" cy="3466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Formel 5"/>
              <p:cNvSpPr txBox="1"/>
              <p:nvPr/>
            </p:nvSpPr>
            <p:spPr>
              <a:xfrm>
                <a:off x="768096" y="2475835"/>
                <a:ext cx="6720840" cy="43458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𝜗</m:t>
                      </m:r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5" name="Formel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2475835"/>
                <a:ext cx="6720840" cy="4345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feld 6"/>
              <p:cNvSpPr txBox="1"/>
              <p:nvPr/>
            </p:nvSpPr>
            <p:spPr>
              <a:xfrm>
                <a:off x="768096" y="3075009"/>
                <a:ext cx="6720840" cy="11197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228594" indent="-228594" algn="l">
                  <a:lnSpc>
                    <a:spcPct val="100000"/>
                  </a:lnSpc>
                  <a:spcBef>
                    <a:spcPts val="432"/>
                  </a:spcBef>
                  <a:buClr>
                    <a:srgbClr val="4C4D4C"/>
                  </a:buClr>
                  <a:buFont typeface="Wingdings" pitchFamily="2" charset="2"/>
                  <a:buChar char="§"/>
                </a:pPr>
                <a:r>
                  <a:rPr lang="de-DE" sz="1733" b="1" dirty="0">
                    <a:solidFill>
                      <a:srgbClr val="4C4D4C"/>
                    </a:solidFill>
                  </a:rPr>
                  <a:t>Amplitude (Nenner):</a:t>
                </a:r>
                <a:r>
                  <a:rPr lang="de-DE" sz="1733" dirty="0">
                    <a:solidFill>
                      <a:srgbClr val="4C4D4C"/>
                    </a:solidFill>
                  </a:rPr>
                  <a:t xml:space="preserve">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/</m:t>
                    </m:r>
                    <m:d>
                      <m:dPr>
                        <m:begChr m:val="|"/>
                        <m:endChr m:val="|"/>
                        <m:grow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de-DE" i="0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de-DE" i="1" sz="1733">
                                    <a:solidFill>
                                      <a:srgbClr val="4C4D4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i="1" sz="1733">
                                    <a:solidFill>
                                      <a:srgbClr val="4C4D4C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acc>
                          </m:e>
                          <m:sub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– der relative Fehler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b>
                      <m:sSub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verschwindet</a:t>
                </a:r>
                <a:endParaRPr lang="de-DE" sz="1733" dirty="0"/>
              </a:p>
              <a:p>
                <a:pPr marL="228594" indent="-228594" algn="l">
                  <a:lnSpc>
                    <a:spcPct val="100000"/>
                  </a:lnSpc>
                  <a:spcBef>
                    <a:spcPts val="432"/>
                  </a:spcBef>
                  <a:buClr>
                    <a:srgbClr val="4C4D4C"/>
                  </a:buClr>
                  <a:buFont typeface="Wingdings" pitchFamily="2" charset="2"/>
                  <a:buChar char="§"/>
                </a:pPr>
                <a:r>
                  <a:rPr lang="de-DE" sz="1733" b="1" dirty="0">
                    <a:solidFill>
                      <a:srgbClr val="4C4D4C"/>
                    </a:solidFill>
                  </a:rPr>
                  <a:t>Phase (Exponent):</a:t>
                </a:r>
                <a:r>
                  <a:rPr lang="de-DE" sz="1733" dirty="0">
                    <a:solidFill>
                      <a:srgbClr val="4C4D4C"/>
                    </a:solidFill>
                  </a:rPr>
                  <a:t xml:space="preserve">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 xml:space="preserve"> </m:t>
                    </m:r>
                    <m:sSub>
                      <m:sSub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𝜗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erreicht bis zu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(90°) – darf </a:t>
                </a:r>
                <a:r>
                  <a:rPr lang="de-DE" sz="1733" b="1" dirty="0">
                    <a:solidFill>
                      <a:srgbClr val="4C4D4C"/>
                    </a:solidFill>
                  </a:rPr>
                  <a:t>nicht</a:t>
                </a:r>
                <a:r>
                  <a:rPr lang="de-DE" sz="1733" dirty="0">
                    <a:solidFill>
                      <a:srgbClr val="4C4D4C"/>
                    </a:solidFill>
                  </a:rPr>
                  <a:t xml:space="preserve"> vernachlässigt werden!</a:t>
                </a:r>
                <a:endParaRPr lang="de-DE" sz="1733" dirty="0"/>
              </a:p>
            </p:txBody>
          </p:sp>
        </mc:Choice>
        <mc:Fallback>
          <p:sp>
            <p:nvSpPr>
              <p:cNvPr id="6" name="Textfeld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3075009"/>
                <a:ext cx="6720840" cy="11197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el 7"/>
              <p:cNvSpPr txBox="1"/>
              <p:nvPr/>
            </p:nvSpPr>
            <p:spPr>
              <a:xfrm>
                <a:off x="768096" y="4304462"/>
                <a:ext cx="6720840" cy="77264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d>
                                <m:dPr>
                                  <m:begChr m:val="|"/>
                                  <m:endChr m:val="|"/>
                                  <m:grow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acc>
                                  <m:r>
                                    <m:rPr>
                                      <m:sty m:val="p"/>
                                    </m:rPr>
                                    <a:rPr lang="de-DE" i="0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b>
                                  </m:sSub>
                                </m:e>
                              </m:d>
                            </m:sup>
                          </m:sSup>
                        </m:num>
                        <m:den>
                          <m:d>
                            <m:dPr>
                              <m:begChr m:val="|"/>
                              <m:endChr m:val="|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p>
                          </m:sSup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sSup>
                        <m:sSup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𝜗</m:t>
                          </m:r>
                        </m:sup>
                      </m:sSup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7" name="Formel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4304462"/>
                <a:ext cx="6720840" cy="77264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feld 8"/>
              <p:cNvSpPr txBox="1"/>
              <p:nvPr/>
            </p:nvSpPr>
            <p:spPr>
              <a:xfrm>
                <a:off x="768096" y="5186832"/>
                <a:ext cx="6720840" cy="30923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733" dirty="0">
                    <a:solidFill>
                      <a:srgbClr val="4C4D4C"/>
                    </a:solidFill>
                  </a:rPr>
                  <a:t xml:space="preserve">Gültig im Fernfeld: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≫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,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≫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und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de-DE" sz="1733" dirty="0"/>
              </a:p>
            </p:txBody>
          </p:sp>
        </mc:Choice>
        <mc:Fallback>
          <p:sp>
            <p:nvSpPr>
              <p:cNvPr id="8" name="Textfeld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5186832"/>
                <a:ext cx="6720840" cy="30923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pic>
        <p:nvPicPr>
          <p:cNvPr id="9" name="Grafik 9" descr="Fernfeldnäherung: parallele Strahlen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7818120" y="1325880"/>
            <a:ext cx="3749040" cy="4435086"/>
          </a:xfrm>
          <a:prstGeom prst="rect">
            <a:avLst/>
          </a:prstGeom>
        </p:spPr>
      </p:pic>
      <p:sp>
        <p:nvSpPr>
          <p:cNvPr id="10" name="Foliennummernplatzhalter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 xml:space="preserve">Seite </a:t>
            </a:r>
            <a:fld id="{EBA229B5-7CFD-BC45-B1DD-7E8FA6FF2A01}" type="slidenum">
              <a:rPr lang="de-DE" smtClean="0"/>
              <a:pPr/>
              <a:t>12</a:t>
            </a:fld>
            <a:endParaRPr lang="de-DE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Lösung der Wellengleichung</a:t>
            </a:r>
          </a:p>
        </p:txBody>
      </p:sp>
      <p:sp>
        <p:nvSpPr>
          <p:cNvPr id="3" name="Textfeld 3"/>
          <p:cNvSpPr txBox="1"/>
          <p:nvPr/>
        </p:nvSpPr>
        <p:spPr>
          <a:xfrm>
            <a:off x="768096" y="1115568"/>
            <a:ext cx="10652760" cy="3006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de-DE" sz="1733" dirty="0">
                <a:solidFill>
                  <a:srgbClr val="4C4D4C"/>
                </a:solidFill>
              </a:rPr>
              <a:t>Einsetzen der Fernfeldnäherung:</a:t>
            </a:r>
            <a:endParaRPr lang="de-DE" sz="1733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Formel 4"/>
              <p:cNvSpPr txBox="1"/>
              <p:nvPr/>
            </p:nvSpPr>
            <p:spPr>
              <a:xfrm>
                <a:off x="768096" y="1489405"/>
                <a:ext cx="10652760" cy="111334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d>
                        <m:dPr>
                          <m:begChr m:val="("/>
                          <m:endChr m:val=")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limLow>
                        <m:limLow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pos m:val="bot"/>
                              <m:vertJc m:val="top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f>
                                <m:fPr>
                                  <m:type m:val="bar"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de-DE" i="0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den>
                              </m:f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Kugelwelle (wie Hertzscher Dipol)</m:t>
                          </m:r>
                        </m:lim>
                      </m:limLow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 </m:t>
                      </m:r>
                      <m:limLow>
                        <m:limLow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pos m:val="bot"/>
                              <m:vertJc m:val="top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nary>
                                <m:naryPr>
                                  <m:chr m:val="∫"/>
                                  <m:limLoc m:val="subSup"/>
                                  <m:subHide m:val="off"/>
                                  <m:supHide m:val="off"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sty m:val="p"/>
                                    </m:rPr>
                                    <a:rPr lang="de-DE" i="0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de-DE" i="0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  <m:sup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de-DE" i="0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i="0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  <m:d>
                                    <m:dPr>
                                      <m:begChr m:val="("/>
                                      <m:endChr m:val=")"/>
                                      <m:grow/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sSub>
                                        <m:sSubPr>
                                          <m:ctrlP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 </m:t>
                                  </m:r>
                                  <m:sSup>
                                    <m:sSupPr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sSub>
                                        <m:sSubPr>
                                          <m:ctrlP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de-DE" i="0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𝜗</m:t>
                                      </m:r>
                                    </m:sup>
                                  </m:sSup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 </m:t>
                                  </m:r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Überlagerung der Teilwellen</m:t>
                          </m:r>
                        </m:lim>
                      </m:limLow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4" name="Formel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1489405"/>
                <a:ext cx="10652760" cy="11133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feld 5"/>
              <p:cNvSpPr txBox="1"/>
              <p:nvPr/>
            </p:nvSpPr>
            <p:spPr>
              <a:xfrm>
                <a:off x="768096" y="2712476"/>
                <a:ext cx="10652760" cy="52952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733" dirty="0">
                    <a:solidFill>
                      <a:srgbClr val="4C4D4C"/>
                    </a:solidFill>
                  </a:rPr>
                  <a:t xml:space="preserve">Das Integral hängt nur noch vom Winkel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𝜗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ab und beschreibt die Interferenz der von den einzelnen Stromelementen abgestrahlten Teilwellen.</a:t>
                </a:r>
                <a:endParaRPr lang="de-DE" sz="1733" dirty="0"/>
              </a:p>
            </p:txBody>
          </p:sp>
        </mc:Choice>
        <mc:Fallback>
          <p:sp>
            <p:nvSpPr>
              <p:cNvPr id="5" name="Textfeld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2712476"/>
                <a:ext cx="10652760" cy="5295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6" name="Textfeld 6"/>
          <p:cNvSpPr txBox="1"/>
          <p:nvPr/>
        </p:nvSpPr>
        <p:spPr>
          <a:xfrm>
            <a:off x="768096" y="3424877"/>
            <a:ext cx="10652760" cy="3006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de-DE" sz="1733" dirty="0">
                <a:solidFill>
                  <a:srgbClr val="4C4D4C"/>
                </a:solidFill>
              </a:rPr>
              <a:t>Lösung des Integrals – mit der Eulerschen Formel:</a:t>
            </a:r>
            <a:endParaRPr lang="de-DE" sz="1733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el 7"/>
              <p:cNvSpPr txBox="1"/>
              <p:nvPr/>
            </p:nvSpPr>
            <p:spPr>
              <a:xfrm>
                <a:off x="768096" y="3798714"/>
                <a:ext cx="10652760" cy="43722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𝜗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begChr m:val="("/>
                          <m:endChr m:val=")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𝜗</m:t>
                          </m:r>
                        </m:e>
                      </m:d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begChr m:val="("/>
                          <m:endChr m:val=")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𝜗</m:t>
                          </m:r>
                        </m:e>
                      </m:d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7" name="Formel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3798714"/>
                <a:ext cx="10652760" cy="4372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feld 8"/>
              <p:cNvSpPr txBox="1"/>
              <p:nvPr/>
            </p:nvSpPr>
            <p:spPr>
              <a:xfrm>
                <a:off x="768096" y="4309089"/>
                <a:ext cx="10652760" cy="50042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endChr m:val=")"/>
                        <m:grow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b>
                          <m:sSubPr>
                            <m:ctrlP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</m:d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ist gerade,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endChr m:val=")"/>
                        <m:grow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b>
                          <m:sSubPr>
                            <m:ctrlP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de-DE" i="0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𝜗</m:t>
                        </m:r>
                      </m:e>
                    </m:d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ungerade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→ der Imaginärteil verschwindet über das symmetrische Intervall:</a:t>
                </a:r>
                <a:endParaRPr lang="de-DE" sz="1733" dirty="0"/>
              </a:p>
            </p:txBody>
          </p:sp>
        </mc:Choice>
        <mc:Fallback>
          <p:sp>
            <p:nvSpPr>
              <p:cNvPr id="8" name="Textfeld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4309089"/>
                <a:ext cx="10652760" cy="5004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el 9"/>
              <p:cNvSpPr txBox="1"/>
              <p:nvPr/>
            </p:nvSpPr>
            <p:spPr>
              <a:xfrm>
                <a:off x="768096" y="4882668"/>
                <a:ext cx="10652760" cy="79641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∫"/>
                          <m:limLoc m:val="subSup"/>
                          <m:subHide m:val="off"/>
                          <m:supHide m:val="off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("/>
                              <m:endChr m:val=")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</m:e>
                          </m:d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 xml:space="preserve"> </m:t>
                          </m:r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𝜗</m:t>
                              </m:r>
                            </m:sup>
                          </m:s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 xml:space="preserve"> 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nary>
                        <m:naryPr>
                          <m:chr m:val="∫"/>
                          <m:limLoc m:val="subSup"/>
                          <m:subHide m:val="off"/>
                          <m:supHide m:val="off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("/>
                              <m:endChr m:val=")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("/>
                              <m:endChr m:val=")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𝜗</m:t>
                              </m:r>
                            </m:e>
                          </m:d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 xml:space="preserve"> 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9" name="Formel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4882668"/>
                <a:ext cx="10652760" cy="79641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10" name="Foliennummernplatzhalter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 xml:space="preserve">Seite </a:t>
            </a:r>
            <a:fld id="{EBA229B5-7CFD-BC45-B1DD-7E8FA6FF2A01}" type="slidenum">
              <a:rPr lang="de-DE" smtClean="0"/>
              <a:pPr/>
              <a:t>13</a:t>
            </a:fld>
            <a:endParaRPr lang="de-DE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Lösung der Wellengleichung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Formel 3"/>
              <p:cNvSpPr txBox="1"/>
              <p:nvPr/>
            </p:nvSpPr>
            <p:spPr>
              <a:xfrm>
                <a:off x="768096" y="1115568"/>
                <a:ext cx="10652760" cy="76207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nary>
                        <m:naryPr>
                          <m:chr m:val="∫"/>
                          <m:limLoc m:val="subSup"/>
                          <m:subHide m:val="off"/>
                          <m:supHide m:val="off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("/>
                              <m:endChr m:val=")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("/>
                              <m:endChr m:val=")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𝜗</m:t>
                              </m:r>
                            </m:e>
                          </m:d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 xml:space="preserve"> 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3" name="Formel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1115568"/>
                <a:ext cx="10652760" cy="7620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feld 4"/>
              <p:cNvSpPr txBox="1"/>
              <p:nvPr/>
            </p:nvSpPr>
            <p:spPr>
              <a:xfrm>
                <a:off x="768096" y="1914222"/>
                <a:ext cx="10652760" cy="33832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733" dirty="0">
                    <a:solidFill>
                      <a:srgbClr val="4C4D4C"/>
                    </a:solidFill>
                  </a:rPr>
                  <a:t xml:space="preserve">Mit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 xml:space="preserve"> 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endChr m:val="]"/>
                        <m:grow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de-DE" i="0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begChr m:val="("/>
                            <m:endChr m:val=")"/>
                            <m:grow/>
                            <m:ctrlP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m:rPr>
                                <m:sty m:val="p"/>
                              </m:rPr>
                              <a:rPr lang="de-DE" i="0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de-DE" i="0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de-DE" i="0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begChr m:val="("/>
                            <m:endChr m:val=")"/>
                            <m:grow/>
                            <m:ctrlP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m:rPr>
                                <m:sty m:val="p"/>
                              </m:rPr>
                              <a:rPr lang="de-DE" i="0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</m:e>
                    </m:d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>:</a:t>
                </a:r>
                <a:endParaRPr lang="de-DE" sz="1733" dirty="0"/>
              </a:p>
            </p:txBody>
          </p:sp>
        </mc:Choice>
        <mc:Fallback>
          <p:sp>
            <p:nvSpPr>
              <p:cNvPr id="4" name="Textfeld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1914222"/>
                <a:ext cx="10652760" cy="3383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Formel 5"/>
              <p:cNvSpPr txBox="1"/>
              <p:nvPr/>
            </p:nvSpPr>
            <p:spPr>
              <a:xfrm>
                <a:off x="768096" y="2289126"/>
                <a:ext cx="10652760" cy="76207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subHide m:val="off"/>
                          <m:supHide m:val="off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begChr m:val="("/>
                                  <m:endChr m:val=")"/>
                                  <m:grow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sSub>
                                    <m:sSubPr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("/>
                                      <m:endChr m:val=")"/>
                                      <m:grow/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de-DE" i="0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de-DE" i="0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𝜗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begChr m:val="("/>
                                  <m:endChr m:val=")"/>
                                  <m:grow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sSub>
                                    <m:sSubPr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("/>
                                      <m:endChr m:val=")"/>
                                      <m:grow/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de-DE" i="0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de-DE" i="0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𝜗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5" name="Formel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2289126"/>
                <a:ext cx="10652760" cy="7620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Formel 6"/>
              <p:cNvSpPr txBox="1"/>
              <p:nvPr/>
            </p:nvSpPr>
            <p:spPr>
              <a:xfrm>
                <a:off x="768096" y="3087779"/>
                <a:ext cx="10652760" cy="93110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de-DE" i="0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  <m:d>
                                    <m:dPr>
                                      <m:begChr m:val="("/>
                                      <m:endChr m:val=")"/>
                                      <m:grow/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sSub>
                                        <m:sSubPr>
                                          <m:ctrlP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begChr m:val="("/>
                                          <m:endChr m:val=")"/>
                                          <m:grow/>
                                          <m:ctrlP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de-DE" i="0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de-DE" i="0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  <m: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𝜗</m:t>
                                          </m:r>
                                        </m:e>
                                      </m:d>
                                    </m:e>
                                  </m:d>
                                </m:num>
                                <m:den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d>
                                    <m:dPr>
                                      <m:begChr m:val="("/>
                                      <m:endChr m:val=")"/>
                                      <m:grow/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de-DE" i="0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de-DE" i="0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𝜗</m:t>
                                      </m:r>
                                    </m:e>
                                  </m:d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type m:val="bar"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de-DE" i="0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  <m:d>
                                    <m:dPr>
                                      <m:begChr m:val="("/>
                                      <m:endChr m:val=")"/>
                                      <m:grow/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sSub>
                                        <m:sSubPr>
                                          <m:ctrlP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begChr m:val="("/>
                                          <m:endChr m:val=")"/>
                                          <m:grow/>
                                          <m:ctrlP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de-DE" i="0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de-DE" i="0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  <m: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𝜗</m:t>
                                          </m:r>
                                        </m:e>
                                      </m:d>
                                    </m:e>
                                  </m:d>
                                </m:num>
                                <m:den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d>
                                    <m:dPr>
                                      <m:begChr m:val="("/>
                                      <m:endChr m:val=")"/>
                                      <m:grow/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de-DE" i="0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de-DE" i="0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𝜗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6" name="Formel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3087779"/>
                <a:ext cx="10652760" cy="9311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feld 7"/>
              <p:cNvSpPr txBox="1"/>
              <p:nvPr/>
            </p:nvSpPr>
            <p:spPr>
              <a:xfrm>
                <a:off x="768096" y="4055463"/>
                <a:ext cx="10652760" cy="29260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733" dirty="0">
                    <a:solidFill>
                      <a:srgbClr val="4C4D4C"/>
                    </a:solidFill>
                  </a:rPr>
                  <a:t xml:space="preserve">Mit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 xml:space="preserve"> 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gilt:</a:t>
                </a:r>
                <a:endParaRPr lang="de-DE" sz="1733" dirty="0"/>
              </a:p>
            </p:txBody>
          </p:sp>
        </mc:Choice>
        <mc:Fallback>
          <p:sp>
            <p:nvSpPr>
              <p:cNvPr id="7" name="Textfeld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4055463"/>
                <a:ext cx="10652760" cy="2926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el 8"/>
              <p:cNvSpPr txBox="1"/>
              <p:nvPr/>
            </p:nvSpPr>
            <p:spPr>
              <a:xfrm>
                <a:off x="768096" y="4348071"/>
                <a:ext cx="10652760" cy="563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begChr m:val="("/>
                          <m:endChr m:val=")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begChr m:val="("/>
                              <m:endChr m:val=")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∓</m:t>
                              </m:r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𝜗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begChr m:val="("/>
                          <m:endChr m:val=")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𝜗</m:t>
                          </m:r>
                        </m:e>
                      </m:d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8" name="Formel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4348071"/>
                <a:ext cx="10652760" cy="5639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el 9"/>
              <p:cNvSpPr txBox="1"/>
              <p:nvPr/>
            </p:nvSpPr>
            <p:spPr>
              <a:xfrm>
                <a:off x="768096" y="4948643"/>
                <a:ext cx="10652760" cy="68812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("/>
                              <m:endChr m:val=")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𝜗</m:t>
                              </m:r>
                            </m:e>
                          </m:d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d>
                        <m:dPr>
                          <m:begChr m:val="("/>
                          <m:endChr m:val=")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𝜗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𝜗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("/>
                              <m:endChr m:val=")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𝜗</m:t>
                              </m:r>
                            </m:e>
                          </m:d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 xml:space="preserve"> </m:t>
                          </m:r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𝜗</m:t>
                          </m:r>
                        </m:den>
                      </m:f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9" name="Formel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4948643"/>
                <a:ext cx="10652760" cy="68812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10" name="Foliennummernplatzhalter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 xml:space="preserve">Seite </a:t>
            </a:r>
            <a:fld id="{EBA229B5-7CFD-BC45-B1DD-7E8FA6FF2A01}" type="slidenum">
              <a:rPr lang="de-DE" smtClean="0"/>
              <a:pPr/>
              <a:t>14</a:t>
            </a:fld>
            <a:endParaRPr lang="de-DE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Lösung der Wellengleichung</a:t>
            </a:r>
          </a:p>
        </p:txBody>
      </p:sp>
      <p:sp>
        <p:nvSpPr>
          <p:cNvPr id="3" name="Textfeld 3"/>
          <p:cNvSpPr txBox="1"/>
          <p:nvPr/>
        </p:nvSpPr>
        <p:spPr>
          <a:xfrm>
            <a:off x="768096" y="1115568"/>
            <a:ext cx="6720840" cy="3006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de-DE" sz="1733" dirty="0">
                <a:solidFill>
                  <a:srgbClr val="4C4D4C"/>
                </a:solidFill>
              </a:rPr>
              <a:t>Damit ergibt sich das Vektorpotential des Halbwellendipols:</a:t>
            </a:r>
            <a:endParaRPr lang="de-DE" sz="1733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Formel 4"/>
              <p:cNvSpPr txBox="1"/>
              <p:nvPr/>
            </p:nvSpPr>
            <p:spPr>
              <a:xfrm>
                <a:off x="768096" y="1507693"/>
                <a:ext cx="6720840" cy="68812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d>
                        <m:dPr>
                          <m:begChr m:val="("/>
                          <m:endChr m:val=")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p>
                          </m:sSup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("/>
                              <m:endChr m:val=")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𝜗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𝜗</m:t>
                          </m:r>
                        </m:den>
                      </m:f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4" name="Formel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1507693"/>
                <a:ext cx="6720840" cy="68812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feld 5"/>
              <p:cNvSpPr txBox="1"/>
              <p:nvPr/>
            </p:nvSpPr>
            <p:spPr>
              <a:xfrm>
                <a:off x="768096" y="2378700"/>
                <a:ext cx="6720840" cy="51705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733" dirty="0">
                    <a:solidFill>
                      <a:srgbClr val="4C4D4C"/>
                    </a:solidFill>
                  </a:rPr>
                  <a:t>Zudem ist es sinnvoll die Felder in Kugelkoordinaten zu betrachten 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𝜗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𝜗</m:t>
                        </m:r>
                      </m:e>
                    </m:acc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𝜗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>):</a:t>
                </a:r>
                <a:endParaRPr lang="de-DE" sz="1733" dirty="0"/>
              </a:p>
            </p:txBody>
          </p:sp>
        </mc:Choice>
        <mc:Fallback>
          <p:sp>
            <p:nvSpPr>
              <p:cNvPr id="5" name="Textfeld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2378700"/>
                <a:ext cx="6720840" cy="5170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Formel 6"/>
              <p:cNvSpPr txBox="1"/>
              <p:nvPr/>
            </p:nvSpPr>
            <p:spPr>
              <a:xfrm>
                <a:off x="768096" y="2987192"/>
                <a:ext cx="6720840" cy="68812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d>
                        <m:dPr>
                          <m:begChr m:val="("/>
                          <m:endChr m:val=")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("/>
                          <m:endChr m:val=")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𝜗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𝜗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𝜗</m:t>
                          </m:r>
                        </m:e>
                      </m:d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p>
                          </m:sSup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("/>
                              <m:endChr m:val=")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𝜗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𝜗</m:t>
                          </m:r>
                        </m:den>
                      </m:f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6" name="Formel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2987192"/>
                <a:ext cx="6720840" cy="6881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7" name="Textfeld 7"/>
          <p:cNvSpPr txBox="1"/>
          <p:nvPr/>
        </p:nvSpPr>
        <p:spPr>
          <a:xfrm>
            <a:off x="768096" y="3858199"/>
            <a:ext cx="6720840" cy="3006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de-DE" sz="1733" dirty="0">
                <a:solidFill>
                  <a:srgbClr val="4C4D4C"/>
                </a:solidFill>
              </a:rPr>
              <a:t>Komponenten:</a:t>
            </a:r>
            <a:endParaRPr lang="de-DE" sz="1733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el 8"/>
              <p:cNvSpPr txBox="1"/>
              <p:nvPr/>
            </p:nvSpPr>
            <p:spPr>
              <a:xfrm>
                <a:off x="768096" y="4195460"/>
                <a:ext cx="6720840" cy="68812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p>
                          </m:sSup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𝜗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 xml:space="preserve"> 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("/>
                              <m:endChr m:val=")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𝜗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𝜗</m:t>
                          </m:r>
                        </m:den>
                      </m:f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8" name="Formel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4195460"/>
                <a:ext cx="6720840" cy="6881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el 9"/>
              <p:cNvSpPr txBox="1"/>
              <p:nvPr/>
            </p:nvSpPr>
            <p:spPr>
              <a:xfrm>
                <a:off x="768096" y="4975027"/>
                <a:ext cx="6720840" cy="65115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𝜗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p>
                          </m:sSup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("/>
                              <m:endChr m:val=")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𝜗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𝜗</m:t>
                          </m:r>
                        </m:den>
                      </m:f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9" name="Formel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4975027"/>
                <a:ext cx="6720840" cy="6511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pic>
        <p:nvPicPr>
          <p:cNvPr id="10" name="Grafik 10" descr="Kugelkoordinaten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046720" y="1371600"/>
            <a:ext cx="3566160" cy="3514747"/>
          </a:xfrm>
          <a:prstGeom prst="rect">
            <a:avLst/>
          </a:prstGeom>
        </p:spPr>
      </p:pic>
      <p:sp>
        <p:nvSpPr>
          <p:cNvPr id="11" name="Foliennummernplatzhalt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 xml:space="preserve">Seite </a:t>
            </a:r>
            <a:fld id="{EBA229B5-7CFD-BC45-B1DD-7E8FA6FF2A01}" type="slidenum">
              <a:rPr lang="de-DE" smtClean="0"/>
              <a:pPr/>
              <a:t>15</a:t>
            </a:fld>
            <a:endParaRPr lang="de-DE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Lösung der Wellengleichung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Formel 3"/>
              <p:cNvSpPr txBox="1"/>
              <p:nvPr/>
            </p:nvSpPr>
            <p:spPr>
              <a:xfrm>
                <a:off x="768096" y="1115568"/>
                <a:ext cx="10652760" cy="65115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𝜗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p>
                          </m:sSup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("/>
                              <m:endChr m:val=")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𝜗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𝜗</m:t>
                          </m:r>
                        </m:den>
                      </m:f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  </m:t>
                      </m:r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p>
                          </m:sSup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3" name="Formel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1115568"/>
                <a:ext cx="10652760" cy="6511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4" name="Textfeld 4"/>
          <p:cNvSpPr txBox="1"/>
          <p:nvPr/>
        </p:nvSpPr>
        <p:spPr>
          <a:xfrm>
            <a:off x="768096" y="1858160"/>
            <a:ext cx="10652760" cy="3006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de-DE" sz="1733" dirty="0">
                <a:solidFill>
                  <a:srgbClr val="4C4D4C"/>
                </a:solidFill>
              </a:rPr>
              <a:t>Nun sind wir aber eher an dem magnetischen und elektrischen Feld interessiert:</a:t>
            </a:r>
            <a:endParaRPr lang="de-DE" sz="1733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Formel 5"/>
              <p:cNvSpPr txBox="1"/>
              <p:nvPr/>
            </p:nvSpPr>
            <p:spPr>
              <a:xfrm>
                <a:off x="768096" y="2204565"/>
                <a:ext cx="10652760" cy="72774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num>
                        <m:den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("/>
                          <m:endChr m:val=")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5" name="Formel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2204565"/>
                <a:ext cx="10652760" cy="7277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feld 6"/>
              <p:cNvSpPr txBox="1"/>
              <p:nvPr/>
            </p:nvSpPr>
            <p:spPr>
              <a:xfrm>
                <a:off x="768096" y="3023749"/>
                <a:ext cx="10652760" cy="5419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733" dirty="0">
                    <a:solidFill>
                      <a:srgbClr val="4C4D4C"/>
                    </a:solidFill>
                  </a:rPr>
                  <a:t xml:space="preserve">Da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sub>
                    </m:sSub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und keine Abhängigkeit von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besteht, liefert die Rotation in Kugelkoordinaten nur eine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>-Komponente:</a:t>
                </a:r>
                <a:endParaRPr lang="de-DE" sz="1733" dirty="0"/>
              </a:p>
            </p:txBody>
          </p:sp>
        </mc:Choice>
        <mc:Fallback>
          <p:sp>
            <p:nvSpPr>
              <p:cNvPr id="6" name="Textfeld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3023749"/>
                <a:ext cx="10652760" cy="5419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el 7"/>
              <p:cNvSpPr txBox="1"/>
              <p:nvPr/>
            </p:nvSpPr>
            <p:spPr>
              <a:xfrm>
                <a:off x="768096" y="3611458"/>
                <a:ext cx="10652760" cy="69076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∂</m:t>
                              </m:r>
                              <m:d>
                                <m:dPr>
                                  <m:begChr m:val="("/>
                                  <m:endChr m:val=")"/>
                                  <m:grow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sSub>
                                    <m:sSubPr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𝜗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∂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∂</m:t>
                              </m:r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∂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𝜗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7" name="Formel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3611458"/>
                <a:ext cx="10652760" cy="6907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feld 8"/>
              <p:cNvSpPr txBox="1"/>
              <p:nvPr/>
            </p:nvSpPr>
            <p:spPr>
              <a:xfrm>
                <a:off x="768096" y="4393667"/>
                <a:ext cx="10652760" cy="55445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733" dirty="0">
                    <a:solidFill>
                      <a:srgbClr val="4C4D4C"/>
                    </a:solidFill>
                  </a:rPr>
                  <a:t xml:space="preserve">Im Fernfeld werden nur Terme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∝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berücksichtigt: Der zweite Term ist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∝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und entfällt, im ersten wirkt die Ableitung nur auf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de-DE" i="0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>:</a:t>
                </a:r>
                <a:endParaRPr lang="de-DE" sz="1733" dirty="0"/>
              </a:p>
            </p:txBody>
          </p:sp>
        </mc:Choice>
        <mc:Fallback>
          <p:sp>
            <p:nvSpPr>
              <p:cNvPr id="8" name="Textfeld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4393667"/>
                <a:ext cx="10652760" cy="55445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el 9"/>
              <p:cNvSpPr txBox="1"/>
              <p:nvPr/>
            </p:nvSpPr>
            <p:spPr>
              <a:xfrm>
                <a:off x="768096" y="4993846"/>
                <a:ext cx="10652760" cy="70661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d>
                            <m:dPr>
                              <m:begChr m:val="("/>
                              <m:endChr m:val=")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𝜗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𝜗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sSup>
                        <m:sSup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p>
                        <m:sSup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("/>
                              <m:endChr m:val=")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𝜗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𝜗</m:t>
                          </m:r>
                        </m:den>
                      </m:f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9" name="Formel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4993846"/>
                <a:ext cx="10652760" cy="70661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10" name="Foliennummernplatzhalter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 xml:space="preserve">Seite </a:t>
            </a:r>
            <a:fld id="{EBA229B5-7CFD-BC45-B1DD-7E8FA6FF2A01}" type="slidenum">
              <a:rPr lang="de-DE" smtClean="0"/>
              <a:pPr/>
              <a:t>16</a:t>
            </a:fld>
            <a:endParaRPr lang="de-DE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Lösung der Wellengleichung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Formel 3"/>
              <p:cNvSpPr txBox="1"/>
              <p:nvPr/>
            </p:nvSpPr>
            <p:spPr>
              <a:xfrm>
                <a:off x="768096" y="1115568"/>
                <a:ext cx="10652760" cy="65115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sSup>
                        <m:sSup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p>
                        <m:sSup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("/>
                              <m:endChr m:val=")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𝜗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𝜗</m:t>
                          </m:r>
                        </m:den>
                      </m:f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3" name="Formel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1115568"/>
                <a:ext cx="10652760" cy="6511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4" name="Textfeld 4"/>
          <p:cNvSpPr txBox="1"/>
          <p:nvPr/>
        </p:nvSpPr>
        <p:spPr>
          <a:xfrm>
            <a:off x="768096" y="1903880"/>
            <a:ext cx="10652760" cy="5647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de-DE" sz="1733" dirty="0">
                <a:solidFill>
                  <a:srgbClr val="4C4D4C"/>
                </a:solidFill>
              </a:rPr>
              <a:t xml:space="preserve">Das elektrische Feld kann via </a:t>
            </a:r>
            <a:r>
              <a:rPr lang="de-DE" sz="1733" b="1" dirty="0">
                <a:solidFill>
                  <a:srgbClr val="4C4D4C"/>
                </a:solidFill>
              </a:rPr>
              <a:t>erweitertes Ampèresches Durchflutungsgesetz</a:t>
            </a:r>
            <a:r>
              <a:rPr lang="de-DE" sz="1733" dirty="0">
                <a:solidFill>
                  <a:srgbClr val="4C4D4C"/>
                </a:solidFill>
              </a:rPr>
              <a:t xml:space="preserve"> bestimmt werden. Verlustfreier Raum (außerhalb der Quelle):</a:t>
            </a:r>
            <a:endParaRPr lang="de-DE" sz="1733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Formel 5"/>
              <p:cNvSpPr txBox="1"/>
              <p:nvPr/>
            </p:nvSpPr>
            <p:spPr>
              <a:xfrm>
                <a:off x="768096" y="2560114"/>
                <a:ext cx="10652760" cy="66435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</m:acc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 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 </m:t>
                      </m:r>
                      <m:acc>
                        <m:accPr>
                          <m:chr m:val="⃗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("/>
                          <m:endChr m:val=")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5" name="Formel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2560114"/>
                <a:ext cx="10652760" cy="6643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feld 6"/>
              <p:cNvSpPr txBox="1"/>
              <p:nvPr/>
            </p:nvSpPr>
            <p:spPr>
              <a:xfrm>
                <a:off x="768096" y="3361632"/>
                <a:ext cx="10652760" cy="36742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733" dirty="0">
                    <a:solidFill>
                      <a:srgbClr val="4C4D4C"/>
                    </a:solidFill>
                  </a:rPr>
                  <a:t xml:space="preserve">Rotation von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acc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 xml:space="preserve"> </m:t>
                    </m:r>
                    <m:sSub>
                      <m:sSub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sub>
                    </m:sSub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in Kugelkoordinaten (Fernfeld):</a:t>
                </a:r>
                <a:endParaRPr lang="de-DE" sz="1733" dirty="0"/>
              </a:p>
            </p:txBody>
          </p:sp>
        </mc:Choice>
        <mc:Fallback>
          <p:sp>
            <p:nvSpPr>
              <p:cNvPr id="6" name="Textfeld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3361632"/>
                <a:ext cx="10652760" cy="3674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el 7"/>
              <p:cNvSpPr txBox="1"/>
              <p:nvPr/>
            </p:nvSpPr>
            <p:spPr>
              <a:xfrm>
                <a:off x="768096" y="3820494"/>
                <a:ext cx="10652760" cy="73038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𝜗</m:t>
                          </m:r>
                        </m:den>
                      </m:f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d>
                            <m:dPr>
                              <m:begChr m:val="("/>
                              <m:endChr m:val=")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𝜗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 xml:space="preserve"> </m:t>
                              </m:r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𝜗</m:t>
                          </m:r>
                        </m:den>
                      </m:f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 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 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 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 </m:t>
                      </m:r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7" name="Formel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3820494"/>
                <a:ext cx="10652760" cy="7303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el 8"/>
              <p:cNvSpPr txBox="1"/>
              <p:nvPr/>
            </p:nvSpPr>
            <p:spPr>
              <a:xfrm>
                <a:off x="768096" y="4642319"/>
                <a:ext cx="10652760" cy="82018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𝜗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("/>
                          <m:endChr m:val=")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 xml:space="preserve"> </m:t>
                          </m:r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∂</m:t>
                              </m:r>
                              <m:d>
                                <m:dPr>
                                  <m:begChr m:val="("/>
                                  <m:endChr m:val=")"/>
                                  <m:grow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sSub>
                                    <m:sSubPr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𝜑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∂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sub>
                      </m:sSub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8" name="Formel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4642319"/>
                <a:ext cx="10652760" cy="8201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9" name="Foliennummernplatzhalter 9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 xml:space="preserve">Seite </a:t>
            </a:r>
            <a:fld id="{EBA229B5-7CFD-BC45-B1DD-7E8FA6FF2A01}" type="slidenum">
              <a:rPr lang="de-DE" smtClean="0"/>
              <a:pPr/>
              <a:t>17</a:t>
            </a:fld>
            <a:endParaRPr lang="de-DE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Lösung der Wellengleichung</a:t>
            </a:r>
          </a:p>
        </p:txBody>
      </p:sp>
      <p:sp>
        <p:nvSpPr>
          <p:cNvPr id="3" name="Textfeld 3"/>
          <p:cNvSpPr txBox="1"/>
          <p:nvPr/>
        </p:nvSpPr>
        <p:spPr>
          <a:xfrm>
            <a:off x="768096" y="1115568"/>
            <a:ext cx="6720840" cy="5647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de-DE" sz="1733" dirty="0">
                <a:solidFill>
                  <a:srgbClr val="4C4D4C"/>
                </a:solidFill>
              </a:rPr>
              <a:t>Somit ergeben sich die Fernfelder, welche durch einen Halbwellendipol verursacht werden, zu:</a:t>
            </a:r>
            <a:endParaRPr lang="de-DE" sz="1733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Formel 4"/>
              <p:cNvSpPr txBox="1"/>
              <p:nvPr/>
            </p:nvSpPr>
            <p:spPr>
              <a:xfrm>
                <a:off x="1042416" y="1817522"/>
                <a:ext cx="6446520" cy="65115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sSup>
                        <m:sSup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p>
                        <m:sSup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("/>
                              <m:endChr m:val=")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𝜗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𝜗</m:t>
                          </m:r>
                        </m:den>
                      </m:f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4" name="Formel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416" y="1817522"/>
                <a:ext cx="6446520" cy="6511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Formel 5"/>
              <p:cNvSpPr txBox="1"/>
              <p:nvPr/>
            </p:nvSpPr>
            <p:spPr>
              <a:xfrm>
                <a:off x="1042416" y="2560114"/>
                <a:ext cx="6446520" cy="72246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𝜗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rad>
                        <m:radPr>
                          <m:degHide m:val="on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sSup>
                        <m:sSup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p>
                        <m:sSup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("/>
                              <m:endChr m:val=")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𝜗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𝜗</m:t>
                          </m:r>
                        </m:den>
                      </m:f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5" name="Formel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416" y="2560114"/>
                <a:ext cx="6446520" cy="7224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Formel 6"/>
              <p:cNvSpPr txBox="1"/>
              <p:nvPr/>
            </p:nvSpPr>
            <p:spPr>
              <a:xfrm>
                <a:off x="1042416" y="3374016"/>
                <a:ext cx="6446520" cy="40024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  </m:t>
                      </m:r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𝜗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6" name="Formel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416" y="3374016"/>
                <a:ext cx="6446520" cy="4002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feld 7"/>
              <p:cNvSpPr txBox="1"/>
              <p:nvPr/>
            </p:nvSpPr>
            <p:spPr>
              <a:xfrm>
                <a:off x="768096" y="3957144"/>
                <a:ext cx="6720840" cy="160186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228594" indent="-228594" algn="l">
                  <a:lnSpc>
                    <a:spcPct val="100000"/>
                  </a:lnSpc>
                  <a:spcBef>
                    <a:spcPts val="576"/>
                  </a:spcBef>
                  <a:buClr>
                    <a:srgbClr val="4C4D4C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⊥</m:t>
                    </m:r>
                    <m:acc>
                      <m:accPr>
                        <m:chr m:val="⃗"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⊥</m:t>
                    </m:r>
                    <m:acc>
                      <m:accPr>
                        <m:chr m:val="̂"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𝜗</m:t>
                        </m:r>
                      </m:sub>
                    </m:sSub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sub>
                    </m:sSub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in Phase → TEM-Welle</a:t>
                </a:r>
                <a:endParaRPr lang="de-DE" sz="1733" dirty="0"/>
              </a:p>
              <a:p>
                <a:pPr marL="228594" indent="-228594" algn="l">
                  <a:lnSpc>
                    <a:spcPct val="100000"/>
                  </a:lnSpc>
                  <a:spcBef>
                    <a:spcPts val="576"/>
                  </a:spcBef>
                  <a:buClr>
                    <a:srgbClr val="4C4D4C"/>
                  </a:buClr>
                  <a:buFont typeface="Wingdings" pitchFamily="2" charset="2"/>
                  <a:buChar char="§"/>
                </a:pPr>
                <a:r>
                  <a:rPr lang="de-DE" sz="1733" dirty="0">
                    <a:solidFill>
                      <a:srgbClr val="4C4D4C"/>
                    </a:solidFill>
                  </a:rPr>
                  <a:t xml:space="preserve">Amplitude nimmt mit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ab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den>
                    </m:f>
                    <m:rad>
                      <m:radPr>
                        <m:degHide m:val="on"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de-DE" i="0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rad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 xml:space="preserve"> 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>)</a:t>
                </a:r>
                <a:endParaRPr lang="de-DE" sz="1733" dirty="0"/>
              </a:p>
              <a:p>
                <a:pPr marL="228594" indent="-228594" algn="l">
                  <a:lnSpc>
                    <a:spcPct val="100000"/>
                  </a:lnSpc>
                  <a:spcBef>
                    <a:spcPts val="576"/>
                  </a:spcBef>
                  <a:buClr>
                    <a:srgbClr val="4C4D4C"/>
                  </a:buClr>
                  <a:buFont typeface="Wingdings" pitchFamily="2" charset="2"/>
                  <a:buChar char="§"/>
                </a:pPr>
                <a:r>
                  <a:rPr lang="de-DE" sz="1733" dirty="0">
                    <a:solidFill>
                      <a:srgbClr val="4C4D4C"/>
                    </a:solidFill>
                  </a:rPr>
                  <a:t xml:space="preserve">Richtungsabhängigkeit nur über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endChr m:val=")"/>
                        <m:grow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de-DE" i="0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𝜗</m:t>
                        </m:r>
                      </m:e>
                    </m:d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𝜗</m:t>
                    </m:r>
                  </m:oMath>
                </a14:m>
                <a:endParaRPr lang="de-DE" sz="1733" dirty="0"/>
              </a:p>
              <a:p>
                <a:pPr marL="228594" indent="-228594" algn="l">
                  <a:lnSpc>
                    <a:spcPct val="100000"/>
                  </a:lnSpc>
                  <a:spcBef>
                    <a:spcPts val="576"/>
                  </a:spcBef>
                  <a:buClr>
                    <a:srgbClr val="4C4D4C"/>
                  </a:buClr>
                  <a:buFont typeface="Wingdings" pitchFamily="2" charset="2"/>
                  <a:buChar char="§"/>
                </a:pPr>
                <a:r>
                  <a:rPr lang="de-DE" sz="1733" dirty="0">
                    <a:solidFill>
                      <a:srgbClr val="4C4D4C"/>
                    </a:solidFill>
                  </a:rPr>
                  <a:t xml:space="preserve">Keine Abstrahlung in Richtung der Dipolachse, Maximum bei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𝜗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de-DE" i="0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endParaRPr lang="de-DE" sz="1733" dirty="0"/>
              </a:p>
            </p:txBody>
          </p:sp>
        </mc:Choice>
        <mc:Fallback>
          <p:sp>
            <p:nvSpPr>
              <p:cNvPr id="7" name="Textfeld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3957144"/>
                <a:ext cx="6720840" cy="16018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pic>
        <p:nvPicPr>
          <p:cNvPr id="8" name="Grafik 8" descr="Animation: Feldlinien des Halbwellendipols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498080" y="1097280"/>
            <a:ext cx="4151924" cy="4069080"/>
          </a:xfrm>
          <a:prstGeom prst="rect">
            <a:avLst/>
          </a:prstGeom>
        </p:spPr>
      </p:pic>
      <p:sp>
        <p:nvSpPr>
          <p:cNvPr id="9" name="Foliennummernplatzhalter 9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 xml:space="preserve">Seite </a:t>
            </a:r>
            <a:fld id="{EBA229B5-7CFD-BC45-B1DD-7E8FA6FF2A01}" type="slidenum">
              <a:rPr lang="de-DE" smtClean="0"/>
              <a:pPr/>
              <a:t>18</a:t>
            </a:fld>
            <a:endParaRPr lang="de-DE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Lösung der Wellengleichung</a:t>
            </a:r>
          </a:p>
        </p:txBody>
      </p:sp>
      <p:sp>
        <p:nvSpPr>
          <p:cNvPr id="3" name="Textfeld 3"/>
          <p:cNvSpPr txBox="1"/>
          <p:nvPr/>
        </p:nvSpPr>
        <p:spPr>
          <a:xfrm>
            <a:off x="768096" y="1115568"/>
            <a:ext cx="10652760" cy="3006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de-DE" sz="1733" dirty="0">
                <a:solidFill>
                  <a:srgbClr val="4C4D4C"/>
                </a:solidFill>
              </a:rPr>
              <a:t>Physikalisch messbar ist der Realteil der komplexen Felder:</a:t>
            </a:r>
            <a:endParaRPr lang="de-DE" sz="1733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Formel 4"/>
              <p:cNvSpPr txBox="1"/>
              <p:nvPr/>
            </p:nvSpPr>
            <p:spPr>
              <a:xfrm>
                <a:off x="768096" y="1507693"/>
                <a:ext cx="10652760" cy="41609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{"/>
                          <m:endChr m:val="}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 xml:space="preserve"> </m:t>
                          </m:r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{"/>
                          <m:endChr m:val="}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("/>
                              <m:endChr m:val=")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("/>
                              <m:endChr m:val=")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begChr m:val="("/>
                          <m:endChr m:val=")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4" name="Formel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1507693"/>
                <a:ext cx="10652760" cy="4160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5" name="Textfeld 5"/>
          <p:cNvSpPr txBox="1"/>
          <p:nvPr/>
        </p:nvSpPr>
        <p:spPr>
          <a:xfrm>
            <a:off x="768096" y="2106668"/>
            <a:ext cx="10652760" cy="3006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de-DE" sz="1733" dirty="0">
                <a:solidFill>
                  <a:srgbClr val="4C4D4C"/>
                </a:solidFill>
              </a:rPr>
              <a:t>Damit lauten die Fernfelder im Zeitbereich:</a:t>
            </a:r>
            <a:endParaRPr lang="de-DE" sz="1733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Formel 6"/>
              <p:cNvSpPr txBox="1"/>
              <p:nvPr/>
            </p:nvSpPr>
            <p:spPr>
              <a:xfrm>
                <a:off x="768096" y="2498793"/>
                <a:ext cx="10652760" cy="65115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𝜗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("/>
                              <m:endChr m:val=")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𝜗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𝜗</m:t>
                          </m:r>
                        </m:den>
                      </m:f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begChr m:val="("/>
                          <m:endChr m:val=")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6" name="Formel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2498793"/>
                <a:ext cx="10652760" cy="6511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el 7"/>
              <p:cNvSpPr txBox="1"/>
              <p:nvPr/>
            </p:nvSpPr>
            <p:spPr>
              <a:xfrm>
                <a:off x="768096" y="3241385"/>
                <a:ext cx="10652760" cy="72246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𝜗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𝜗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("/>
                              <m:endChr m:val=")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𝜗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𝜗</m:t>
                          </m:r>
                        </m:den>
                      </m:f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begChr m:val="("/>
                          <m:endChr m:val=")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7" name="Formel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3241385"/>
                <a:ext cx="10652760" cy="7224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8" name="Textfeld 8"/>
          <p:cNvSpPr txBox="1"/>
          <p:nvPr/>
        </p:nvSpPr>
        <p:spPr>
          <a:xfrm>
            <a:off x="768096" y="4146726"/>
            <a:ext cx="10652760" cy="5647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de-DE" sz="1733" b="1" dirty="0">
                <a:solidFill>
                  <a:srgbClr val="4C4D4C"/>
                </a:solidFill>
              </a:rPr>
              <a:t>Keine Phasenverschiebung zwischen elektrischem und magnetischem Feld!</a:t>
            </a:r>
            <a:endParaRPr lang="de-DE" sz="1733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de-DE" sz="1733" b="1" dirty="0">
                <a:solidFill>
                  <a:srgbClr val="4C4D4C"/>
                </a:solidFill>
              </a:rPr>
              <a:t>TEM-Ausbreitung!</a:t>
            </a:r>
            <a:endParaRPr lang="de-DE" sz="1733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el 9"/>
              <p:cNvSpPr txBox="1"/>
              <p:nvPr/>
            </p:nvSpPr>
            <p:spPr>
              <a:xfrm>
                <a:off x="768096" y="4766385"/>
                <a:ext cx="10652760" cy="72510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𝜗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377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9" name="Formel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4766385"/>
                <a:ext cx="10652760" cy="7251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10" name="Foliennummernplatzhalter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 xml:space="preserve">Seite </a:t>
            </a:r>
            <a:fld id="{EBA229B5-7CFD-BC45-B1DD-7E8FA6FF2A01}" type="slidenum">
              <a:rPr lang="de-DE" smtClean="0"/>
              <a:pPr/>
              <a:t>19</a:t>
            </a:fld>
            <a:endParaRPr lang="de-DE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Lösung der Wellengleichung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feld 3"/>
              <p:cNvSpPr txBox="1"/>
              <p:nvPr/>
            </p:nvSpPr>
            <p:spPr>
              <a:xfrm>
                <a:off x="768096" y="1115568"/>
                <a:ext cx="7040880" cy="79968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733" b="1" dirty="0">
                    <a:solidFill>
                      <a:srgbClr val="4C4D4C"/>
                    </a:solidFill>
                  </a:rPr>
                  <a:t>Gilt diese Lösung auch in der Nähe der Antenne?</a:t>
                </a:r>
                <a:r>
                  <a:rPr lang="de-DE" sz="1733" dirty="0">
                    <a:solidFill>
                      <a:srgbClr val="4C4D4C"/>
                    </a:solidFill>
                  </a:rPr>
                  <a:t xml:space="preserve"> Nein (Fernfeldnäherung). Für die sinusförmige Stromverteilung lässt sich das Integral aber auch exakt lösen (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𝜗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>):</a:t>
                </a:r>
                <a:endParaRPr lang="de-DE" sz="1733" dirty="0"/>
              </a:p>
            </p:txBody>
          </p:sp>
        </mc:Choice>
        <mc:Fallback>
          <p:sp>
            <p:nvSpPr>
              <p:cNvPr id="3" name="Textfeld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1115568"/>
                <a:ext cx="7040880" cy="79968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Formel 4"/>
              <p:cNvSpPr txBox="1"/>
              <p:nvPr/>
            </p:nvSpPr>
            <p:spPr>
              <a:xfrm>
                <a:off x="950976" y="1988404"/>
                <a:ext cx="6858000" cy="69076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d>
                        <m:dPr>
                          <m:begChr m:val="("/>
                          <m:endChr m:val=")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</m:sSup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</m:sSup>
                        </m:e>
                      </m:d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4" name="Formel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976" y="1988404"/>
                <a:ext cx="6858000" cy="6907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Formel 5"/>
              <p:cNvSpPr txBox="1"/>
              <p:nvPr/>
            </p:nvSpPr>
            <p:spPr>
              <a:xfrm>
                <a:off x="950976" y="2706605"/>
                <a:ext cx="6858000" cy="72246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rad>
                        <m:radPr>
                          <m:degHide m:val="on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d>
                        <m:dPr>
                          <m:begChr m:val="("/>
                          <m:endChr m:val=")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de-DE" i="0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sSub>
                                    <m:sSubPr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de-DE" i="0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sSub>
                                    <m:sSubPr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5" name="Formel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976" y="2706605"/>
                <a:ext cx="6858000" cy="7224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Formel 6"/>
              <p:cNvSpPr txBox="1"/>
              <p:nvPr/>
            </p:nvSpPr>
            <p:spPr>
              <a:xfrm>
                <a:off x="950976" y="3456498"/>
                <a:ext cx="6858000" cy="72246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rad>
                        <m:radPr>
                          <m:degHide m:val="on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d>
                        <m:dPr>
                          <m:begChr m:val="("/>
                          <m:endChr m:val=")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("/>
                              <m:endChr m:val=")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num>
                                <m:den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de-DE" i="0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sSub>
                                    <m:sSubPr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("/>
                              <m:endChr m:val=")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type m:val="bar"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num>
                                <m:den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de-DE" i="0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sSub>
                                    <m:sSubPr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6" name="Formel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976" y="3456498"/>
                <a:ext cx="6858000" cy="7224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el 7"/>
              <p:cNvSpPr txBox="1"/>
              <p:nvPr/>
            </p:nvSpPr>
            <p:spPr>
              <a:xfrm>
                <a:off x="950976" y="4206391"/>
                <a:ext cx="6858000" cy="83074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("/>
                                  <m:endChr m:val=")"/>
                                  <m:grow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de-DE" i="0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∓</m:t>
                                  </m:r>
                                  <m:f>
                                    <m:fPr>
                                      <m:type m:val="bar"/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num>
                                    <m:den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7" name="Formel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976" y="4206391"/>
                <a:ext cx="6858000" cy="83074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feld 8"/>
              <p:cNvSpPr txBox="1"/>
              <p:nvPr/>
            </p:nvSpPr>
            <p:spPr>
              <a:xfrm>
                <a:off x="768096" y="5146865"/>
                <a:ext cx="7040880" cy="52952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: Abstände zu den Dipolenden – die Felder scheinen von den </a:t>
                </a:r>
                <a:r>
                  <a:rPr lang="de-DE" sz="1733" b="1" dirty="0">
                    <a:solidFill>
                      <a:srgbClr val="4C4D4C"/>
                    </a:solidFill>
                  </a:rPr>
                  <a:t>Enden</a:t>
                </a:r>
                <a:r>
                  <a:rPr lang="de-DE" sz="1733" dirty="0">
                    <a:solidFill>
                      <a:srgbClr val="4C4D4C"/>
                    </a:solidFill>
                  </a:rPr>
                  <a:t xml:space="preserve"> auszugehen. Für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folgt wieder die Fernfeldlösung.</a:t>
                </a:r>
                <a:endParaRPr lang="de-DE" sz="1733" dirty="0"/>
              </a:p>
            </p:txBody>
          </p:sp>
        </mc:Choice>
        <mc:Fallback>
          <p:sp>
            <p:nvSpPr>
              <p:cNvPr id="8" name="Textfeld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5146865"/>
                <a:ext cx="7040880" cy="5295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pic>
        <p:nvPicPr>
          <p:cNvPr id="9" name="Grafik 9" descr="Animation: Feldlinien des Halbwellendipols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8001000" y="1234440"/>
            <a:ext cx="3685415" cy="3611880"/>
          </a:xfrm>
          <a:prstGeom prst="rect">
            <a:avLst/>
          </a:prstGeom>
        </p:spPr>
      </p:pic>
      <p:sp>
        <p:nvSpPr>
          <p:cNvPr id="10" name="Foliennummernplatzhalter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 xml:space="preserve">Seite </a:t>
            </a:r>
            <a:fld id="{EBA229B5-7CFD-BC45-B1DD-7E8FA6FF2A01}" type="slidenum">
              <a:rPr lang="de-DE" smtClean="0"/>
              <a:pPr/>
              <a:t>20</a:t>
            </a:fld>
            <a:endParaRPr lang="de-DE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Vergleich zum Hertzschen Dipol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feld 3"/>
              <p:cNvSpPr txBox="1"/>
              <p:nvPr/>
            </p:nvSpPr>
            <p:spPr>
              <a:xfrm>
                <a:off x="768096" y="1115568"/>
                <a:ext cx="6720840" cy="26767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733" b="1" dirty="0">
                    <a:solidFill>
                      <a:srgbClr val="4C4D4C"/>
                    </a:solidFill>
                  </a:rPr>
                  <a:t>Hertzscher Dipol</a:t>
                </a:r>
                <a:r>
                  <a:rPr lang="de-DE" sz="1733" dirty="0">
                    <a:solidFill>
                      <a:srgbClr val="4C4D4C"/>
                    </a:solidFill>
                  </a:rPr>
                  <a:t xml:space="preserve"> (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≪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>):</a:t>
                </a:r>
                <a:endParaRPr lang="de-DE" sz="1733" dirty="0"/>
              </a:p>
            </p:txBody>
          </p:sp>
        </mc:Choice>
        <mc:Fallback>
          <p:sp>
            <p:nvSpPr>
              <p:cNvPr id="3" name="Textfeld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1115568"/>
                <a:ext cx="6720840" cy="2676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Formel 4"/>
              <p:cNvSpPr txBox="1"/>
              <p:nvPr/>
            </p:nvSpPr>
            <p:spPr>
              <a:xfrm>
                <a:off x="768096" y="1438102"/>
                <a:ext cx="6720840" cy="69869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𝜗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rad>
                        <m:radPr>
                          <m:degHide m:val="on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sSup>
                        <m:sSup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p>
                        <m:sSup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𝜗</m:t>
                      </m:r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4" name="Formel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1438102"/>
                <a:ext cx="6720840" cy="6986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feld 5"/>
              <p:cNvSpPr txBox="1"/>
              <p:nvPr/>
            </p:nvSpPr>
            <p:spPr>
              <a:xfrm>
                <a:off x="768096" y="2273953"/>
                <a:ext cx="6720840" cy="29260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733" b="1" dirty="0">
                    <a:solidFill>
                      <a:srgbClr val="4C4D4C"/>
                    </a:solidFill>
                  </a:rPr>
                  <a:t>Halbwellendipol</a:t>
                </a:r>
                <a:r>
                  <a:rPr lang="de-DE" sz="1733" dirty="0">
                    <a:solidFill>
                      <a:srgbClr val="4C4D4C"/>
                    </a:solidFill>
                  </a:rPr>
                  <a:t xml:space="preserve"> (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>):</a:t>
                </a:r>
                <a:endParaRPr lang="de-DE" sz="1733" dirty="0"/>
              </a:p>
            </p:txBody>
          </p:sp>
        </mc:Choice>
        <mc:Fallback>
          <p:sp>
            <p:nvSpPr>
              <p:cNvPr id="5" name="Textfeld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2273953"/>
                <a:ext cx="6720840" cy="2926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Formel 6"/>
              <p:cNvSpPr txBox="1"/>
              <p:nvPr/>
            </p:nvSpPr>
            <p:spPr>
              <a:xfrm>
                <a:off x="768096" y="2621425"/>
                <a:ext cx="6720840" cy="72246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𝜗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rad>
                        <m:radPr>
                          <m:degHide m:val="on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sSup>
                        <m:sSup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p>
                        <m:sSup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("/>
                              <m:endChr m:val=")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𝜗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𝜗</m:t>
                          </m:r>
                        </m:den>
                      </m:f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6" name="Formel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2621425"/>
                <a:ext cx="6720840" cy="7224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feld 7"/>
              <p:cNvSpPr txBox="1"/>
              <p:nvPr/>
            </p:nvSpPr>
            <p:spPr>
              <a:xfrm>
                <a:off x="768096" y="3481047"/>
                <a:ext cx="6720840" cy="181799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228594" indent="-228594" algn="l">
                  <a:lnSpc>
                    <a:spcPct val="100000"/>
                  </a:lnSpc>
                  <a:spcBef>
                    <a:spcPts val="720"/>
                  </a:spcBef>
                  <a:buClr>
                    <a:srgbClr val="4C4D4C"/>
                  </a:buClr>
                  <a:buFont typeface="Wingdings" pitchFamily="2" charset="2"/>
                  <a:buChar char="§"/>
                </a:pPr>
                <a:r>
                  <a:rPr lang="de-DE" sz="1733" dirty="0">
                    <a:solidFill>
                      <a:srgbClr val="4C4D4C"/>
                    </a:solidFill>
                  </a:rPr>
                  <a:t>Gleiche Polarisation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𝜗</m:t>
                        </m:r>
                      </m:sub>
                    </m:sSub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sub>
                    </m:sSub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), gleiche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-Abnahme und gleiche Kugelwelle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de-DE" i="0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endParaRPr lang="de-DE" sz="1733" dirty="0"/>
              </a:p>
              <a:p>
                <a:pPr marL="228594" indent="-228594" algn="l">
                  <a:lnSpc>
                    <a:spcPct val="100000"/>
                  </a:lnSpc>
                  <a:spcBef>
                    <a:spcPts val="720"/>
                  </a:spcBef>
                  <a:buClr>
                    <a:srgbClr val="4C4D4C"/>
                  </a:buClr>
                  <a:buFont typeface="Wingdings" pitchFamily="2" charset="2"/>
                  <a:buChar char="§"/>
                </a:pPr>
                <a:r>
                  <a:rPr lang="de-DE" sz="1733" dirty="0">
                    <a:solidFill>
                      <a:srgbClr val="4C4D4C"/>
                    </a:solidFill>
                  </a:rPr>
                  <a:t>Unterschied in der Richtcharakteristik: Der Halbwellendipol bündelt etwas stärker (Halbwertsbreite 78° statt 90°)</a:t>
                </a:r>
                <a:endParaRPr lang="de-DE" sz="1733" dirty="0"/>
              </a:p>
              <a:p>
                <a:pPr marL="228594" indent="-228594" algn="l">
                  <a:lnSpc>
                    <a:spcPct val="100000"/>
                  </a:lnSpc>
                  <a:spcBef>
                    <a:spcPts val="720"/>
                  </a:spcBef>
                  <a:buClr>
                    <a:srgbClr val="4C4D4C"/>
                  </a:buClr>
                  <a:buFont typeface="Wingdings" pitchFamily="2" charset="2"/>
                  <a:buChar char="§"/>
                </a:pPr>
                <a:r>
                  <a:rPr lang="de-DE" sz="1733" dirty="0">
                    <a:solidFill>
                      <a:srgbClr val="4C4D4C"/>
                    </a:solidFill>
                  </a:rPr>
                  <a:t xml:space="preserve">Bei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𝜗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de-DE" i="0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wirkt der Halbwellendipol wie ein Hertzscher Dipol der </a:t>
                </a:r>
                <a:r>
                  <a:rPr lang="de-DE" sz="1733" b="1" dirty="0">
                    <a:solidFill>
                      <a:srgbClr val="4C4D4C"/>
                    </a:solidFill>
                  </a:rPr>
                  <a:t>effektiven Länge</a:t>
                </a:r>
                <a:r>
                  <a:rPr lang="de-DE" sz="1733" dirty="0">
                    <a:solidFill>
                      <a:srgbClr val="4C4D4C"/>
                    </a:solidFill>
                  </a:rPr>
                  <a:t xml:space="preserve"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i="0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m:rPr>
                            <m:sty m:val="p"/>
                          </m:rPr>
                          <a:rPr lang="de-DE" i="0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m:rPr>
                            <m:sty m:val="p"/>
                          </m:rPr>
                          <a:rPr lang="de-DE" i="0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sub>
                    </m:sSub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 xml:space="preserve"> 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de-DE" sz="1733" dirty="0"/>
              </a:p>
            </p:txBody>
          </p:sp>
        </mc:Choice>
        <mc:Fallback>
          <p:sp>
            <p:nvSpPr>
              <p:cNvPr id="7" name="Textfeld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3481047"/>
                <a:ext cx="6720840" cy="181799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pic>
        <p:nvPicPr>
          <p:cNvPr id="8" name="Grafik 8" descr="Richtdiagramm Hertzscher Dipol vs. Halbwellendipol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7772400" y="1097280"/>
            <a:ext cx="4125951" cy="4572000"/>
          </a:xfrm>
          <a:prstGeom prst="rect">
            <a:avLst/>
          </a:prstGeom>
        </p:spPr>
      </p:pic>
      <p:sp>
        <p:nvSpPr>
          <p:cNvPr id="9" name="Foliennummernplatzhalter 9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 xml:space="preserve">Seite </a:t>
            </a:r>
            <a:fld id="{EBA229B5-7CFD-BC45-B1DD-7E8FA6FF2A01}" type="slidenum">
              <a:rPr lang="de-DE" smtClean="0"/>
              <a:pPr/>
              <a:t>21</a:t>
            </a:fld>
            <a:endParaRPr lang="de-DE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Strahlungsleistung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feld 3"/>
              <p:cNvSpPr txBox="1"/>
              <p:nvPr/>
            </p:nvSpPr>
            <p:spPr>
              <a:xfrm>
                <a:off x="768096" y="1115568"/>
                <a:ext cx="10652760" cy="48795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733" dirty="0">
                    <a:solidFill>
                      <a:srgbClr val="4C4D4C"/>
                    </a:solidFill>
                  </a:rPr>
                  <a:t xml:space="preserve">Die abgestrahlte Leistung ergibt sich aus dem zeitlich gemittelten Poynting-Vektor. Im Fernfeld sind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𝜗</m:t>
                        </m:r>
                      </m:sub>
                    </m:sSub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sub>
                    </m:sSub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in Phase:</a:t>
                </a:r>
                <a:endParaRPr lang="de-DE" sz="1733" dirty="0"/>
              </a:p>
            </p:txBody>
          </p:sp>
        </mc:Choice>
        <mc:Fallback>
          <p:sp>
            <p:nvSpPr>
              <p:cNvPr id="3" name="Textfeld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1115568"/>
                <a:ext cx="10652760" cy="4879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Formel 4"/>
              <p:cNvSpPr txBox="1"/>
              <p:nvPr/>
            </p:nvSpPr>
            <p:spPr>
              <a:xfrm>
                <a:off x="768096" y="1658389"/>
                <a:ext cx="10652760" cy="69869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{"/>
                          <m:endChr m:val="}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⃗"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*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𝜗</m:t>
                          </m:r>
                        </m:sub>
                      </m:sSub>
                      <m:sSubSup>
                        <m:sSubSup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*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rad>
                        <m:radPr>
                          <m:degHide m:val="on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  <m:sSup>
                        <m:sSup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4" name="Formel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1658389"/>
                <a:ext cx="10652760" cy="6986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Formel 5"/>
              <p:cNvSpPr txBox="1"/>
              <p:nvPr/>
            </p:nvSpPr>
            <p:spPr>
              <a:xfrm>
                <a:off x="768096" y="2411945"/>
                <a:ext cx="10652760" cy="78584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grow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("/>
                              <m:endChr m:val=")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de-DE" i="0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  <m:d>
                                    <m:dPr>
                                      <m:begChr m:val="("/>
                                      <m:endChr m:val=")"/>
                                      <m:grow/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type m:val="bar"/>
                                          <m:ctrlP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num>
                                        <m:den>
                                          <m: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  <m:r>
                                        <m:rPr>
                                          <m:sty m:val="p"/>
                                        </m:rPr>
                                        <a:rPr lang="de-DE" i="0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𝜗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de-DE" i="0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𝜗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5" name="Formel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2411945"/>
                <a:ext cx="10652760" cy="7858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feld 6"/>
              <p:cNvSpPr txBox="1"/>
              <p:nvPr/>
            </p:nvSpPr>
            <p:spPr>
              <a:xfrm>
                <a:off x="768096" y="3307520"/>
                <a:ext cx="10652760" cy="30092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733" dirty="0">
                    <a:solidFill>
                      <a:srgbClr val="4C4D4C"/>
                    </a:solidFill>
                  </a:rPr>
                  <a:t xml:space="preserve">Integration über eine Kugeloberfläche mit Radius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(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𝜗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 xml:space="preserve"> 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𝜗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 xml:space="preserve"> 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>):</a:t>
                </a:r>
                <a:endParaRPr lang="de-DE" sz="1733" dirty="0"/>
              </a:p>
            </p:txBody>
          </p:sp>
        </mc:Choice>
        <mc:Fallback>
          <p:sp>
            <p:nvSpPr>
              <p:cNvPr id="6" name="Textfeld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3307520"/>
                <a:ext cx="10652760" cy="3009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el 7"/>
              <p:cNvSpPr txBox="1"/>
              <p:nvPr/>
            </p:nvSpPr>
            <p:spPr>
              <a:xfrm>
                <a:off x="768096" y="3663305"/>
                <a:ext cx="10652760" cy="74887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∮"/>
                          <m:limLoc m:val="subSup"/>
                          <m:subHide m:val="off"/>
                          <m:supHide m:val="on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 xml:space="preserve"> 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nary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subHide m:val="off"/>
                          <m:supHide m:val="off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  <m:e>
                          <m:nary>
                            <m:naryPr>
                              <m:chr m:val="∫"/>
                              <m:limLoc m:val="subSup"/>
                              <m:subHide m:val="off"/>
                              <m:supHide m:val="off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 xml:space="preserve"> </m:t>
                              </m:r>
                              <m:sSup>
                                <m:sSup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𝜗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 xml:space="preserve"> 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𝜗</m:t>
                              </m:r>
                            </m:e>
                          </m:nary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 xml:space="preserve"> 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nary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7" name="Formel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3663305"/>
                <a:ext cx="10652760" cy="7488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el 8"/>
              <p:cNvSpPr txBox="1"/>
              <p:nvPr/>
            </p:nvSpPr>
            <p:spPr>
              <a:xfrm>
                <a:off x="768096" y="4467041"/>
                <a:ext cx="10652760" cy="76471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grow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hr m:val="∫"/>
                          <m:limLoc m:val="subSup"/>
                          <m:subHide m:val="off"/>
                          <m:supHide m:val="off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  <m:e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i="0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begChr m:val="("/>
                                  <m:endChr m:val=")"/>
                                  <m:grow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de-DE" i="0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𝜗</m:t>
                                  </m:r>
                                </m:e>
                              </m:d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𝜗</m:t>
                              </m:r>
                            </m:den>
                          </m:f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 xml:space="preserve"> 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𝜗</m:t>
                          </m:r>
                        </m:e>
                      </m:nary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8" name="Formel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4467041"/>
                <a:ext cx="10652760" cy="76471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feld 9"/>
              <p:cNvSpPr txBox="1"/>
              <p:nvPr/>
            </p:nvSpPr>
            <p:spPr>
              <a:xfrm>
                <a:off x="768096" y="5323200"/>
                <a:ext cx="10652760" cy="27182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733" dirty="0">
                    <a:solidFill>
                      <a:srgbClr val="4C4D4C"/>
                    </a:solidFill>
                  </a:rPr>
                  <a:t xml:space="preserve">→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kürzt sich heraus: Die abgestrahlte Leistung ist unabhängig vom Radius der Hüllfläche (Energieerhaltung).</a:t>
                </a:r>
                <a:endParaRPr lang="de-DE" sz="1733" dirty="0"/>
              </a:p>
            </p:txBody>
          </p:sp>
        </mc:Choice>
        <mc:Fallback>
          <p:sp>
            <p:nvSpPr>
              <p:cNvPr id="9" name="Textfeld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5323200"/>
                <a:ext cx="10652760" cy="27182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10" name="Foliennummernplatzhalter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 xml:space="preserve">Seite </a:t>
            </a:r>
            <a:fld id="{EBA229B5-7CFD-BC45-B1DD-7E8FA6FF2A01}" type="slidenum">
              <a:rPr lang="de-DE" smtClean="0"/>
              <a:pPr/>
              <a:t>22</a:t>
            </a:fld>
            <a:endParaRPr lang="de-DE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Strahlungsleistung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feld 3"/>
              <p:cNvSpPr txBox="1"/>
              <p:nvPr/>
            </p:nvSpPr>
            <p:spPr>
              <a:xfrm>
                <a:off x="768096" y="1115568"/>
                <a:ext cx="10652760" cy="31754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733" dirty="0">
                    <a:solidFill>
                      <a:srgbClr val="4C4D4C"/>
                    </a:solidFill>
                  </a:rPr>
                  <a:t xml:space="preserve">Substitution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𝜗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(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𝜗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 xml:space="preserve"> 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𝜗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de-DE" i="0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𝜗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>):</a:t>
                </a:r>
                <a:endParaRPr lang="de-DE" sz="1733" dirty="0"/>
              </a:p>
            </p:txBody>
          </p:sp>
        </mc:Choice>
        <mc:Fallback>
          <p:sp>
            <p:nvSpPr>
              <p:cNvPr id="3" name="Textfeld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1115568"/>
                <a:ext cx="10652760" cy="3175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Formel 4"/>
              <p:cNvSpPr txBox="1"/>
              <p:nvPr/>
            </p:nvSpPr>
            <p:spPr>
              <a:xfrm>
                <a:off x="768096" y="1487978"/>
                <a:ext cx="10652760" cy="74887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∫"/>
                          <m:limLoc m:val="subSup"/>
                          <m:subHide m:val="off"/>
                          <m:supHide m:val="off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  <m:e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i="0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begChr m:val="("/>
                                  <m:endChr m:val=")"/>
                                  <m:grow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de-DE" i="0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𝜗</m:t>
                                  </m:r>
                                </m:e>
                              </m:d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𝜗</m:t>
                              </m:r>
                            </m:den>
                          </m:f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 xml:space="preserve"> 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𝜗</m:t>
                          </m:r>
                        </m:e>
                      </m:nary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subHide m:val="off"/>
                          <m:supHide m:val="off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i="0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begChr m:val="("/>
                                  <m:endChr m:val=")"/>
                                  <m:grow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</m:num>
                            <m:den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 xml:space="preserve"> 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nary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subHide m:val="off"/>
                          <m:supHide m:val="off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i="0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begChr m:val="("/>
                                  <m:endChr m:val=")"/>
                                  <m:grow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</m:num>
                            <m:den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den>
                          </m:f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 xml:space="preserve"> 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nary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4" name="Formel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1487978"/>
                <a:ext cx="10652760" cy="7488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feld 5"/>
              <p:cNvSpPr txBox="1"/>
              <p:nvPr/>
            </p:nvSpPr>
            <p:spPr>
              <a:xfrm>
                <a:off x="768096" y="2291714"/>
                <a:ext cx="10652760" cy="35079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733" dirty="0">
                    <a:solidFill>
                      <a:srgbClr val="4C4D4C"/>
                    </a:solidFill>
                  </a:rPr>
                  <a:t xml:space="preserve">(Partialbrüche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de-DE" i="0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endChr m:val=")"/>
                        <m:grow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de-DE" i="0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de-DE" i="0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de-DE" i="0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den>
                        </m:f>
                      </m:e>
                    </m:d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– beide Anteile liefern aus Symmetriegründen denselben Beitrag.)</a:t>
                </a:r>
                <a:endParaRPr lang="de-DE" sz="1733" dirty="0"/>
              </a:p>
            </p:txBody>
          </p:sp>
        </mc:Choice>
        <mc:Fallback>
          <p:sp>
            <p:nvSpPr>
              <p:cNvPr id="5" name="Textfeld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2291714"/>
                <a:ext cx="10652760" cy="3507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feld 6"/>
              <p:cNvSpPr txBox="1"/>
              <p:nvPr/>
            </p:nvSpPr>
            <p:spPr>
              <a:xfrm>
                <a:off x="768096" y="2770528"/>
                <a:ext cx="10652760" cy="36326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733" dirty="0">
                    <a:solidFill>
                      <a:srgbClr val="4C4D4C"/>
                    </a:solidFill>
                  </a:rPr>
                  <a:t xml:space="preserve">Mit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de-DE" i="0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endChr m:val=")"/>
                        <m:grow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d>
                          <m:dPr>
                            <m:begChr m:val="("/>
                            <m:endChr m:val=")"/>
                            <m:grow/>
                            <m:ctrlP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m:rPr>
                                <m:sty m:val="p"/>
                              </m:rPr>
                              <a:rPr lang="de-DE" i="0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de-DE" i="0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endChr m:val=")"/>
                        <m:grow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endChr m:val=")"/>
                        <m:grow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de-DE" i="0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de-DE" i="0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begChr m:val="("/>
                            <m:endChr m:val=")"/>
                            <m:grow/>
                            <m:ctrlP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</m:d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und anschließend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>:</a:t>
                </a:r>
                <a:endParaRPr lang="de-DE" sz="1733" dirty="0"/>
              </a:p>
            </p:txBody>
          </p:sp>
        </mc:Choice>
        <mc:Fallback>
          <p:sp>
            <p:nvSpPr>
              <p:cNvPr id="6" name="Textfeld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2770528"/>
                <a:ext cx="10652760" cy="3632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el 7"/>
              <p:cNvSpPr txBox="1"/>
              <p:nvPr/>
            </p:nvSpPr>
            <p:spPr>
              <a:xfrm>
                <a:off x="768096" y="3188658"/>
                <a:ext cx="10652760" cy="74887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∫"/>
                          <m:limLoc m:val="subSup"/>
                          <m:subHide m:val="off"/>
                          <m:supHide m:val="off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begChr m:val="("/>
                                  <m:endChr m:val=")"/>
                                  <m:grow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num>
                            <m:den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den>
                          </m:f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 xml:space="preserve"> 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nary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∫"/>
                          <m:limLoc m:val="subSup"/>
                          <m:subHide m:val="off"/>
                          <m:supHide m:val="off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  <m:e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 xml:space="preserve"> 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nary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d>
                        <m:dPr>
                          <m:begChr m:val="("/>
                          <m:endChr m:val=")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219</m:t>
                      </m:r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7" name="Formel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3188658"/>
                <a:ext cx="10652760" cy="7488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feld 8"/>
              <p:cNvSpPr txBox="1"/>
              <p:nvPr/>
            </p:nvSpPr>
            <p:spPr>
              <a:xfrm>
                <a:off x="768096" y="3992394"/>
                <a:ext cx="10652760" cy="28845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begChr m:val="("/>
                        <m:endChr m:val=")"/>
                        <m:grow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: Integralkosinus (tabelliert),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begChr m:val="("/>
                        <m:endChr m:val=")"/>
                        <m:grow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endChr m:val=")"/>
                        <m:grow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i</m:t>
                    </m:r>
                    <m:d>
                      <m:dPr>
                        <m:begChr m:val="("/>
                        <m:endChr m:val=")"/>
                        <m:grow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438</m:t>
                    </m:r>
                  </m:oMath>
                </a14:m>
                <a:endParaRPr lang="de-DE" sz="1733" dirty="0"/>
              </a:p>
            </p:txBody>
          </p:sp>
        </mc:Choice>
        <mc:Fallback>
          <p:sp>
            <p:nvSpPr>
              <p:cNvPr id="8" name="Textfeld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3992394"/>
                <a:ext cx="10652760" cy="2884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9" name="Textfeld 9"/>
          <p:cNvSpPr txBox="1"/>
          <p:nvPr/>
        </p:nvSpPr>
        <p:spPr>
          <a:xfrm>
            <a:off x="768096" y="4463726"/>
            <a:ext cx="10652760" cy="3006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de-DE" sz="1733" dirty="0">
                <a:solidFill>
                  <a:srgbClr val="4C4D4C"/>
                </a:solidFill>
              </a:rPr>
              <a:t>Damit ergibt sich die abgestrahlte Leistung des Halbwellendipols:</a:t>
            </a:r>
            <a:endParaRPr lang="de-DE" sz="1733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el 10"/>
              <p:cNvSpPr txBox="1"/>
              <p:nvPr/>
            </p:nvSpPr>
            <p:spPr>
              <a:xfrm>
                <a:off x="768096" y="4800987"/>
                <a:ext cx="10652760" cy="69869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d>
                            <m:dPr>
                              <m:begChr m:val="("/>
                              <m:endChr m:val=")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sSup>
                        <m:sSup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36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10" name="Formel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4800987"/>
                <a:ext cx="10652760" cy="69869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11" name="Foliennummernplatzhalt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 xml:space="preserve">Seite </a:t>
            </a:r>
            <a:fld id="{EBA229B5-7CFD-BC45-B1DD-7E8FA6FF2A01}" type="slidenum">
              <a:rPr lang="de-DE" smtClean="0"/>
              <a:pPr/>
              <a:t>23</a:t>
            </a:fld>
            <a:endParaRPr lang="de-DE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Eingangsimpedanz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feld 3"/>
              <p:cNvSpPr txBox="1"/>
              <p:nvPr/>
            </p:nvSpPr>
            <p:spPr>
              <a:xfrm>
                <a:off x="768096" y="1115568"/>
                <a:ext cx="10652760" cy="52952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733" dirty="0">
                    <a:solidFill>
                      <a:srgbClr val="4C4D4C"/>
                    </a:solidFill>
                  </a:rPr>
                  <a:t xml:space="preserve">Die abgestrahlte Leistung wird einem </a:t>
                </a:r>
                <a:r>
                  <a:rPr lang="de-DE" sz="1733" b="1" dirty="0">
                    <a:solidFill>
                      <a:srgbClr val="4C4D4C"/>
                    </a:solidFill>
                  </a:rPr>
                  <a:t>Strahlungswiderstand</a:t>
                </a:r>
                <a:r>
                  <a:rPr lang="de-DE" sz="1733" dirty="0">
                    <a:solidFill>
                      <a:srgbClr val="4C4D4C"/>
                    </a:solidFill>
                  </a:rPr>
                  <a:t xml:space="preserve"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zugeordnet, der bei gleichem Strom dieselbe Wirkleistung aufnehmen würde:</a:t>
                </a:r>
                <a:endParaRPr lang="de-DE" sz="1733" dirty="0"/>
              </a:p>
            </p:txBody>
          </p:sp>
        </mc:Choice>
        <mc:Fallback>
          <p:sp>
            <p:nvSpPr>
              <p:cNvPr id="3" name="Textfeld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1115568"/>
                <a:ext cx="10652760" cy="5295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Formel 4"/>
              <p:cNvSpPr txBox="1"/>
              <p:nvPr/>
            </p:nvSpPr>
            <p:spPr>
              <a:xfrm>
                <a:off x="768096" y="1736529"/>
                <a:ext cx="10652760" cy="73830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sSup>
                        <m:sSup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 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 </m:t>
                      </m:r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grow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d>
                            <m:dPr>
                              <m:begChr m:val="("/>
                              <m:endChr m:val=")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73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4" name="Formel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1736529"/>
                <a:ext cx="10652760" cy="7383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feld 5"/>
              <p:cNvSpPr txBox="1"/>
              <p:nvPr/>
            </p:nvSpPr>
            <p:spPr>
              <a:xfrm>
                <a:off x="768096" y="2611997"/>
                <a:ext cx="10652760" cy="52536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733" dirty="0">
                    <a:solidFill>
                      <a:srgbClr val="4C4D4C"/>
                    </a:solidFill>
                  </a:rPr>
                  <a:t xml:space="preserve">Beim Halbwellendipol ist der Speisestrom gleich dem Strommaximum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– der Realteil der Eingangsimpedanz entspricht daher direkt dem Strahlungswiderstand:</a:t>
                </a:r>
                <a:endParaRPr lang="de-DE" sz="1733" dirty="0"/>
              </a:p>
            </p:txBody>
          </p:sp>
        </mc:Choice>
        <mc:Fallback>
          <p:sp>
            <p:nvSpPr>
              <p:cNvPr id="5" name="Textfeld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2611997"/>
                <a:ext cx="10652760" cy="5253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Formel 6"/>
              <p:cNvSpPr txBox="1"/>
              <p:nvPr/>
            </p:nvSpPr>
            <p:spPr>
              <a:xfrm>
                <a:off x="768096" y="3228801"/>
                <a:ext cx="10652760" cy="38440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73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  </m:t>
                      </m:r>
                      <m:d>
                        <m:dPr>
                          <m:begChr m:val="("/>
                          <m:endChr m:val=")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verlustfrei</m:t>
                          </m:r>
                        </m:e>
                      </m:d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6" name="Formel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3228801"/>
                <a:ext cx="10652760" cy="3844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feld 7"/>
              <p:cNvSpPr txBox="1"/>
              <p:nvPr/>
            </p:nvSpPr>
            <p:spPr>
              <a:xfrm>
                <a:off x="768096" y="3722931"/>
                <a:ext cx="10652760" cy="35911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733" dirty="0">
                    <a:solidFill>
                      <a:srgbClr val="4C4D4C"/>
                    </a:solidFill>
                  </a:rPr>
                  <a:t xml:space="preserve">Zum Vergleich – Hertzscher Dipol: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80</m:t>
                    </m:r>
                    <m:sSup>
                      <m:sSup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("/>
                            <m:endChr m:val=")"/>
                            <m:grow/>
                            <m:ctrlP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m:rPr>
                                <m:sty m:val="p"/>
                              </m:rPr>
                              <a:rPr lang="de-DE" i="0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d>
                      </m:e>
                      <m:sup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, z. B. nur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 xml:space="preserve"> 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für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>.</a:t>
                </a:r>
                <a:endParaRPr lang="de-DE" sz="1733" dirty="0"/>
              </a:p>
            </p:txBody>
          </p:sp>
        </mc:Choice>
        <mc:Fallback>
          <p:sp>
            <p:nvSpPr>
              <p:cNvPr id="7" name="Textfeld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3722931"/>
                <a:ext cx="10652760" cy="359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8" name="Rechteck: abgerundete Ecken 8"/>
          <p:cNvSpPr/>
          <p:nvPr/>
        </p:nvSpPr>
        <p:spPr>
          <a:xfrm>
            <a:off x="676656" y="4356360"/>
            <a:ext cx="10835640" cy="1188720"/>
          </a:xfrm>
          <a:prstGeom prst="roundRect">
            <a:avLst>
              <a:gd name="adj" fmla="val 2026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de-DE" sz="1733" dirty="0">
                <a:solidFill>
                  <a:srgbClr val="FFFFFF"/>
                </a:solidFill>
              </a:rPr>
              <a:t>Ist die Eingangsimpedanz des Halbwellendipols rein reell?</a:t>
            </a:r>
            <a:endParaRPr lang="de-DE" sz="1733" dirty="0"/>
          </a:p>
        </p:txBody>
      </p:sp>
      <p:sp>
        <p:nvSpPr>
          <p:cNvPr id="9" name="Foliennummernplatzhalter 9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 xml:space="preserve">Seite </a:t>
            </a:r>
            <a:fld id="{EBA229B5-7CFD-BC45-B1DD-7E8FA6FF2A01}" type="slidenum">
              <a:rPr lang="de-DE" smtClean="0"/>
              <a:pPr/>
              <a:t>24</a:t>
            </a:fld>
            <a:endParaRPr lang="de-DE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Eingangsimpedanz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feld 3"/>
              <p:cNvSpPr txBox="1"/>
              <p:nvPr/>
            </p:nvSpPr>
            <p:spPr>
              <a:xfrm>
                <a:off x="768096" y="1115568"/>
                <a:ext cx="6720840" cy="81631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733" b="1" dirty="0">
                    <a:solidFill>
                      <a:srgbClr val="4C4D4C"/>
                    </a:solidFill>
                  </a:rPr>
                  <a:t>Nein!</a:t>
                </a:r>
                <a:r>
                  <a:rPr lang="de-DE" sz="1733" dirty="0">
                    <a:solidFill>
                      <a:srgbClr val="4C4D4C"/>
                    </a:solidFill>
                  </a:rPr>
                  <a:t xml:space="preserve"> Der Blindanteil steckt im </a:t>
                </a:r>
                <a:r>
                  <a:rPr lang="de-DE" sz="1733" b="1" dirty="0">
                    <a:solidFill>
                      <a:srgbClr val="4C4D4C"/>
                    </a:solidFill>
                  </a:rPr>
                  <a:t>Nahfeld</a:t>
                </a:r>
                <a:r>
                  <a:rPr lang="de-DE" sz="1733" dirty="0">
                    <a:solidFill>
                      <a:srgbClr val="4C4D4C"/>
                    </a:solidFill>
                  </a:rPr>
                  <a:t xml:space="preserve"> (das Fernfeld transportiert nur Wirkleistung). </a:t>
                </a:r>
                <a:r>
                  <a:rPr lang="de-DE" sz="1733" b="1" dirty="0">
                    <a:solidFill>
                      <a:srgbClr val="4C4D4C"/>
                    </a:solidFill>
                  </a:rPr>
                  <a:t>Induzierte EMK:</a:t>
                </a:r>
                <a:r>
                  <a:rPr lang="de-DE" sz="1733" dirty="0">
                    <a:solidFill>
                      <a:srgbClr val="4C4D4C"/>
                    </a:solidFill>
                  </a:rPr>
                  <a:t xml:space="preserve"> exaktes Nahfeld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auf der Leiteroberfläche (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), gewichtet mit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begChr m:val="("/>
                        <m:endChr m:val=")"/>
                        <m:grow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>:</a:t>
                </a:r>
                <a:endParaRPr lang="de-DE" sz="1733" dirty="0"/>
              </a:p>
            </p:txBody>
          </p:sp>
        </mc:Choice>
        <mc:Fallback>
          <p:sp>
            <p:nvSpPr>
              <p:cNvPr id="3" name="Textfeld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1115568"/>
                <a:ext cx="6720840" cy="8163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Formel 4"/>
              <p:cNvSpPr txBox="1"/>
              <p:nvPr/>
            </p:nvSpPr>
            <p:spPr>
              <a:xfrm>
                <a:off x="768096" y="1986742"/>
                <a:ext cx="6720840" cy="79641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nary>
                        <m:naryPr>
                          <m:chr m:val="∫"/>
                          <m:limLoc m:val="subSup"/>
                          <m:subHide m:val="off"/>
                          <m:supHide m:val="off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d>
                            <m:dPr>
                              <m:begChr m:val="("/>
                              <m:endChr m:val=")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 xml:space="preserve"> 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begChr m:val="("/>
                              <m:endChr m:val=")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 xml:space="preserve"> 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nary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4" name="Formel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1986742"/>
                <a:ext cx="6720840" cy="7964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Formel 5"/>
              <p:cNvSpPr txBox="1"/>
              <p:nvPr/>
            </p:nvSpPr>
            <p:spPr>
              <a:xfrm>
                <a:off x="768096" y="2838018"/>
                <a:ext cx="6720840" cy="79641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  <m:nary>
                        <m:naryPr>
                          <m:chr m:val="∫"/>
                          <m:limLoc m:val="subSup"/>
                          <m:subHide m:val="off"/>
                          <m:supHide m:val="off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("/>
                              <m:endChr m:val=")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d>
                            <m:dPr>
                              <m:begChr m:val="("/>
                              <m:endChr m:val=")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de-DE" i="0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sSub>
                                        <m:sSubPr>
                                          <m:ctrlP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p>
                                  </m:sSup>
                                </m:num>
                                <m:den>
                                  <m:sSub>
                                    <m:sSubPr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type m:val="bar"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de-DE" i="0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sSub>
                                        <m:sSubPr>
                                          <m:ctrlP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de-DE" i="1" sz="1733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p>
                                  </m:sSup>
                                </m:num>
                                <m:den>
                                  <m:sSub>
                                    <m:sSubPr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nary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5" name="Formel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2838018"/>
                <a:ext cx="6720840" cy="7964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feld 6"/>
              <p:cNvSpPr txBox="1"/>
              <p:nvPr/>
            </p:nvSpPr>
            <p:spPr>
              <a:xfrm>
                <a:off x="768096" y="3707582"/>
                <a:ext cx="6720840" cy="27182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733" dirty="0">
                    <a:solidFill>
                      <a:srgbClr val="4C4D4C"/>
                    </a:solidFill>
                  </a:rPr>
                  <a:t>Für einen dünnen Dipol (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>) ergibt sich:</a:t>
                </a:r>
                <a:endParaRPr lang="de-DE" sz="1733" dirty="0"/>
              </a:p>
            </p:txBody>
          </p:sp>
        </mc:Choice>
        <mc:Fallback>
          <p:sp>
            <p:nvSpPr>
              <p:cNvPr id="6" name="Textfeld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3707582"/>
                <a:ext cx="6720840" cy="2718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el 7"/>
              <p:cNvSpPr txBox="1"/>
              <p:nvPr/>
            </p:nvSpPr>
            <p:spPr>
              <a:xfrm>
                <a:off x="768096" y="4015984"/>
                <a:ext cx="6720840" cy="69869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  <m:d>
                        <m:dPr>
                          <m:begChr m:val="("/>
                          <m:endChr m:val=")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d>
                            <m:dPr>
                              <m:begChr m:val="("/>
                              <m:endChr m:val=")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 xml:space="preserve"> 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d>
                            <m:dPr>
                              <m:begChr m:val="("/>
                              <m:endChr m:val=")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d>
                        <m:dPr>
                          <m:begChr m:val="("/>
                          <m:endChr m:val=")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73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 xml:space="preserve"> 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42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7" name="Formel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4015984"/>
                <a:ext cx="6720840" cy="69869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feld 8"/>
              <p:cNvSpPr txBox="1"/>
              <p:nvPr/>
            </p:nvSpPr>
            <p:spPr>
              <a:xfrm>
                <a:off x="768096" y="4751251"/>
                <a:ext cx="6720840" cy="85787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228594" indent="-228594" algn="l">
                  <a:lnSpc>
                    <a:spcPct val="100000"/>
                  </a:lnSpc>
                  <a:spcBef>
                    <a:spcPts val="288"/>
                  </a:spcBef>
                  <a:buClr>
                    <a:srgbClr val="4C4D4C"/>
                  </a:buClr>
                  <a:buFont typeface="Wingdings" pitchFamily="2" charset="2"/>
                  <a:buChar char="§"/>
                </a:pPr>
                <a:r>
                  <a:rPr lang="de-DE" sz="1733" dirty="0">
                    <a:solidFill>
                      <a:srgbClr val="4C4D4C"/>
                    </a:solidFill>
                  </a:rPr>
                  <a:t xml:space="preserve">Der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-Dipol ist </a:t>
                </a:r>
                <a:r>
                  <a:rPr lang="de-DE" sz="1733" b="1" dirty="0">
                    <a:solidFill>
                      <a:srgbClr val="4C4D4C"/>
                    </a:solidFill>
                  </a:rPr>
                  <a:t>leicht induktiv</a:t>
                </a:r>
                <a:r>
                  <a:rPr lang="de-DE" sz="1733" dirty="0">
                    <a:solidFill>
                      <a:srgbClr val="4C4D4C"/>
                    </a:solidFill>
                  </a:rPr>
                  <a:t xml:space="preserve"> – nicht exakt resonant</a:t>
                </a:r>
                <a:endParaRPr lang="de-DE" sz="1733" dirty="0"/>
              </a:p>
              <a:p>
                <a:pPr marL="228594" indent="-228594" algn="l">
                  <a:lnSpc>
                    <a:spcPct val="100000"/>
                  </a:lnSpc>
                  <a:spcBef>
                    <a:spcPts val="288"/>
                  </a:spcBef>
                  <a:buClr>
                    <a:srgbClr val="4C4D4C"/>
                  </a:buClr>
                  <a:buFont typeface="Wingdings" pitchFamily="2" charset="2"/>
                  <a:buChar char="§"/>
                </a:pPr>
                <a:r>
                  <a:rPr lang="de-DE" sz="1733" dirty="0">
                    <a:solidFill>
                      <a:srgbClr val="4C4D4C"/>
                    </a:solidFill>
                  </a:rPr>
                  <a:t>Resonanz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) durch </a:t>
                </a:r>
                <a:r>
                  <a:rPr lang="de-DE" sz="1733" b="1" dirty="0">
                    <a:solidFill>
                      <a:srgbClr val="4C4D4C"/>
                    </a:solidFill>
                  </a:rPr>
                  <a:t>Verkürzung</a:t>
                </a:r>
                <a:r>
                  <a:rPr lang="de-DE" sz="1733" dirty="0">
                    <a:solidFill>
                      <a:srgbClr val="4C4D4C"/>
                    </a:solidFill>
                  </a:rPr>
                  <a:t xml:space="preserve"> auf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47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 xml:space="preserve"> 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(je dicker, desto kürzer)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67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 xml:space="preserve"> 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de-DE" sz="1733" dirty="0"/>
              </a:p>
            </p:txBody>
          </p:sp>
        </mc:Choice>
        <mc:Fallback>
          <p:sp>
            <p:nvSpPr>
              <p:cNvPr id="8" name="Textfeld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4751251"/>
                <a:ext cx="6720840" cy="85787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pic>
        <p:nvPicPr>
          <p:cNvPr id="9" name="Grafik 9" descr="Eingangsimpedanz über der Dipollänge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7772400" y="1325880"/>
            <a:ext cx="3931920" cy="3216492"/>
          </a:xfrm>
          <a:prstGeom prst="rect">
            <a:avLst/>
          </a:prstGeom>
        </p:spPr>
      </p:pic>
      <p:sp>
        <p:nvSpPr>
          <p:cNvPr id="10" name="Foliennummernplatzhalter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 xml:space="preserve">Seite </a:t>
            </a:r>
            <a:fld id="{EBA229B5-7CFD-BC45-B1DD-7E8FA6FF2A01}" type="slidenum">
              <a:rPr lang="de-DE" smtClean="0"/>
              <a:pPr/>
              <a:t>25</a:t>
            </a:fld>
            <a:endParaRPr lang="de-DE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Richtwirkung und Antennengewinn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feld 3"/>
              <p:cNvSpPr txBox="1"/>
              <p:nvPr/>
            </p:nvSpPr>
            <p:spPr>
              <a:xfrm>
                <a:off x="768096" y="1115568"/>
                <a:ext cx="7040880" cy="79968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733" dirty="0">
                    <a:solidFill>
                      <a:srgbClr val="4C4D4C"/>
                    </a:solidFill>
                  </a:rPr>
                  <a:t xml:space="preserve">Die </a:t>
                </a:r>
                <a:r>
                  <a:rPr lang="de-DE" sz="1733" b="1" dirty="0">
                    <a:solidFill>
                      <a:srgbClr val="4C4D4C"/>
                    </a:solidFill>
                  </a:rPr>
                  <a:t>Richtwirkung (Direktivität)</a:t>
                </a:r>
                <a:r>
                  <a:rPr lang="de-DE" sz="1733" dirty="0">
                    <a:solidFill>
                      <a:srgbClr val="4C4D4C"/>
                    </a:solidFill>
                  </a:rPr>
                  <a:t xml:space="preserve"> vergleicht die maximale Leistungsdichte mit der eines </a:t>
                </a:r>
                <a:r>
                  <a:rPr lang="de-DE" sz="1733" b="1" dirty="0">
                    <a:solidFill>
                      <a:srgbClr val="4C4D4C"/>
                    </a:solidFill>
                  </a:rPr>
                  <a:t>isotropen Strahlers</a:t>
                </a:r>
                <a:r>
                  <a:rPr lang="de-DE" sz="1733" dirty="0">
                    <a:solidFill>
                      <a:srgbClr val="4C4D4C"/>
                    </a:solidFill>
                  </a:rPr>
                  <a:t xml:space="preserve">, der dieselbe Leistung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gleichmäßig auf die Kugeloberfläche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verteilt:</a:t>
                </a:r>
                <a:endParaRPr lang="de-DE" sz="1733" dirty="0"/>
              </a:p>
            </p:txBody>
          </p:sp>
        </mc:Choice>
        <mc:Fallback>
          <p:sp>
            <p:nvSpPr>
              <p:cNvPr id="3" name="Textfeld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1115568"/>
                <a:ext cx="7040880" cy="79968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Formel 4"/>
              <p:cNvSpPr txBox="1"/>
              <p:nvPr/>
            </p:nvSpPr>
            <p:spPr>
              <a:xfrm>
                <a:off x="768096" y="1979260"/>
                <a:ext cx="7040880" cy="72246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d>
                            <m:dPr>
                              <m:begChr m:val="("/>
                              <m:endChr m:val=")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 xml:space="preserve"> </m:t>
                          </m:r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4" name="Formel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1979260"/>
                <a:ext cx="7040880" cy="7224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feld 5"/>
              <p:cNvSpPr txBox="1"/>
              <p:nvPr/>
            </p:nvSpPr>
            <p:spPr>
              <a:xfrm>
                <a:off x="768096" y="2793162"/>
                <a:ext cx="7040880" cy="28845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733" dirty="0">
                    <a:solidFill>
                      <a:srgbClr val="4C4D4C"/>
                    </a:solidFill>
                  </a:rPr>
                  <a:t>Mit der maximalen Leistungsdichte (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𝜗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de-DE" i="0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)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von vorhin:</a:t>
                </a:r>
                <a:endParaRPr lang="de-DE" sz="1733" dirty="0"/>
              </a:p>
            </p:txBody>
          </p:sp>
        </mc:Choice>
        <mc:Fallback>
          <p:sp>
            <p:nvSpPr>
              <p:cNvPr id="5" name="Textfeld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2793162"/>
                <a:ext cx="7040880" cy="2884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Formel 6"/>
              <p:cNvSpPr txBox="1"/>
              <p:nvPr/>
            </p:nvSpPr>
            <p:spPr>
              <a:xfrm>
                <a:off x="768096" y="3109045"/>
                <a:ext cx="7040880" cy="76471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grow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  </m:t>
                      </m:r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d>
                            <m:dPr>
                              <m:begChr m:val="("/>
                              <m:endChr m:val=")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sSup>
                        <m:sSup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6" name="Formel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3109045"/>
                <a:ext cx="7040880" cy="7647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el 7"/>
              <p:cNvSpPr txBox="1"/>
              <p:nvPr/>
            </p:nvSpPr>
            <p:spPr>
              <a:xfrm>
                <a:off x="768096" y="3946916"/>
                <a:ext cx="7040880" cy="66435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d>
                            <m:dPr>
                              <m:begChr m:val="("/>
                              <m:endChr m:val=")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d>
                            <m:dPr>
                              <m:begChr m:val="("/>
                              <m:endChr m:val=")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64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 </m:t>
                      </m:r>
                      <m:acc>
                        <m:accPr>
                          <m:chr m:val="̂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acc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 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7" name="Formel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3946916"/>
                <a:ext cx="7040880" cy="66435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feld 8"/>
              <p:cNvSpPr txBox="1"/>
              <p:nvPr/>
            </p:nvSpPr>
            <p:spPr>
              <a:xfrm>
                <a:off x="768096" y="4702713"/>
                <a:ext cx="7040880" cy="69577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733" dirty="0">
                    <a:solidFill>
                      <a:srgbClr val="4C4D4C"/>
                    </a:solidFill>
                  </a:rPr>
                  <a:t xml:space="preserve">→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de-DE" i="0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rad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grow/>
                            <m:ctrlP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DE" i="1" sz="1733">
                                    <a:solidFill>
                                      <a:srgbClr val="4C4D4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 sz="1733">
                                    <a:solidFill>
                                      <a:srgbClr val="4C4D4C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de-DE" i="1" sz="1733">
                                    <a:solidFill>
                                      <a:srgbClr val="4C4D4C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und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kürzen sich heraus. Richtungsabhängig: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("/>
                        <m:endChr m:val=")"/>
                        <m:grow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𝜗</m:t>
                        </m:r>
                      </m:e>
                    </m:d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begChr m:val="("/>
                        <m:endChr m:val=")"/>
                        <m:grow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𝜗</m:t>
                        </m:r>
                      </m:e>
                    </m:d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64</m:t>
                    </m:r>
                    <m:sSup>
                      <m:sSup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("/>
                            <m:endChr m:val=")"/>
                            <m:grow/>
                            <m:ctrlP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de-DE" i="0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d>
                              <m:dPr>
                                <m:begChr m:val="("/>
                                <m:endChr m:val=")"/>
                                <m:grow/>
                                <m:ctrlPr>
                                  <a:rPr lang="de-DE" i="1" sz="1733">
                                    <a:solidFill>
                                      <a:srgbClr val="4C4D4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de-DE" i="1" sz="1733">
                                        <a:solidFill>
                                          <a:srgbClr val="4C4D4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i="1" sz="1733">
                                        <a:solidFill>
                                          <a:srgbClr val="4C4D4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de-DE" i="1" sz="1733">
                                        <a:solidFill>
                                          <a:srgbClr val="4C4D4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de-DE" i="0" sz="1733">
                                    <a:solidFill>
                                      <a:srgbClr val="4C4D4C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de-DE" i="1" sz="1733">
                                    <a:solidFill>
                                      <a:srgbClr val="4C4D4C"/>
                                    </a:solidFill>
                                    <a:latin typeface="Cambria Math" panose="02040503050406030204" pitchFamily="18" charset="0"/>
                                  </a:rPr>
                                  <m:t>𝜗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de-DE" i="0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m:rPr>
                                <m:sty m:val="p"/>
                              </m:rPr>
                              <a:rPr lang="de-DE" i="0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𝜗</m:t>
                            </m:r>
                          </m:e>
                        </m:d>
                      </m:e>
                      <m:sup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de-DE" sz="1733" dirty="0"/>
              </a:p>
            </p:txBody>
          </p:sp>
        </mc:Choice>
        <mc:Fallback>
          <p:sp>
            <p:nvSpPr>
              <p:cNvPr id="8" name="Textfeld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4702713"/>
                <a:ext cx="7040880" cy="695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feld 9"/>
              <p:cNvSpPr txBox="1"/>
              <p:nvPr/>
            </p:nvSpPr>
            <p:spPr>
              <a:xfrm>
                <a:off x="768096" y="5471641"/>
                <a:ext cx="7040880" cy="27598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733" dirty="0">
                    <a:solidFill>
                      <a:srgbClr val="4C4D4C"/>
                    </a:solidFill>
                  </a:rPr>
                  <a:t xml:space="preserve">Zum Vergleich – Hertzscher Dipol: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 xml:space="preserve"> </m:t>
                    </m:r>
                    <m:acc>
                      <m:accPr>
                        <m:chr m:val="̂"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de-DE" i="0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acc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 xml:space="preserve"> 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76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 xml:space="preserve"> 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endParaRPr lang="de-DE" sz="1733" dirty="0"/>
              </a:p>
            </p:txBody>
          </p:sp>
        </mc:Choice>
        <mc:Fallback>
          <p:sp>
            <p:nvSpPr>
              <p:cNvPr id="9" name="Textfeld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5471641"/>
                <a:ext cx="7040880" cy="2759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pic>
        <p:nvPicPr>
          <p:cNvPr id="10" name="Grafik 10" descr="Richtwirkung in dBi über dem Winkel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8046720" y="1463040"/>
            <a:ext cx="3657600" cy="2732025"/>
          </a:xfrm>
          <a:prstGeom prst="rect">
            <a:avLst/>
          </a:prstGeom>
        </p:spPr>
      </p:pic>
      <p:sp>
        <p:nvSpPr>
          <p:cNvPr id="11" name="Foliennummernplatzhalt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 xml:space="preserve">Seite </a:t>
            </a:r>
            <a:fld id="{EBA229B5-7CFD-BC45-B1DD-7E8FA6FF2A01}" type="slidenum">
              <a:rPr lang="de-DE" smtClean="0"/>
              <a:pPr/>
              <a:t>26</a:t>
            </a:fld>
            <a:endParaRPr lang="de-DE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Richtwirkung und Antennengewinn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feld 3"/>
              <p:cNvSpPr txBox="1"/>
              <p:nvPr/>
            </p:nvSpPr>
            <p:spPr>
              <a:xfrm>
                <a:off x="768096" y="1115568"/>
                <a:ext cx="10652760" cy="27182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733" dirty="0">
                    <a:solidFill>
                      <a:srgbClr val="4C4D4C"/>
                    </a:solidFill>
                  </a:rPr>
                  <a:t xml:space="preserve">Der </a:t>
                </a:r>
                <a:r>
                  <a:rPr lang="de-DE" sz="1733" b="1" dirty="0">
                    <a:solidFill>
                      <a:srgbClr val="4C4D4C"/>
                    </a:solidFill>
                  </a:rPr>
                  <a:t>Antennengewinn</a:t>
                </a:r>
                <a:r>
                  <a:rPr lang="de-DE" sz="1733" dirty="0">
                    <a:solidFill>
                      <a:srgbClr val="4C4D4C"/>
                    </a:solidFill>
                  </a:rPr>
                  <a:t xml:space="preserve"> berücksichtigt zusätzlich die Verluste der Antenne über den </a:t>
                </a:r>
                <a:r>
                  <a:rPr lang="de-DE" sz="1733" b="1" dirty="0">
                    <a:solidFill>
                      <a:srgbClr val="4C4D4C"/>
                    </a:solidFill>
                  </a:rPr>
                  <a:t>Strahlungswirkungsgrad</a:t>
                </a:r>
                <a:r>
                  <a:rPr lang="de-DE" sz="1733" dirty="0">
                    <a:solidFill>
                      <a:srgbClr val="4C4D4C"/>
                    </a:solidFill>
                  </a:rPr>
                  <a:t xml:space="preserve">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>:</a:t>
                </a:r>
                <a:endParaRPr lang="de-DE" sz="1733" dirty="0"/>
              </a:p>
            </p:txBody>
          </p:sp>
        </mc:Choice>
        <mc:Fallback>
          <p:sp>
            <p:nvSpPr>
              <p:cNvPr id="3" name="Textfeld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1115568"/>
                <a:ext cx="10652760" cy="2718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Formel 4"/>
              <p:cNvSpPr txBox="1"/>
              <p:nvPr/>
            </p:nvSpPr>
            <p:spPr>
              <a:xfrm>
                <a:off x="768096" y="1460546"/>
                <a:ext cx="10652760" cy="66964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  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4" name="Formel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1460546"/>
                <a:ext cx="10652760" cy="6696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feld 5"/>
              <p:cNvSpPr txBox="1"/>
              <p:nvPr/>
            </p:nvSpPr>
            <p:spPr>
              <a:xfrm>
                <a:off x="768096" y="2267346"/>
                <a:ext cx="10652760" cy="34248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733" dirty="0">
                    <a:solidFill>
                      <a:srgbClr val="4C4D4C"/>
                    </a:solidFill>
                  </a:rPr>
                  <a:t xml:space="preserve">Ohmsche Verluste durch den Skineffekt (Oberflächenwiderstand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sub>
                    </m:sSub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sSub>
                          <m:sSubPr>
                            <m:ctrlP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de-DE" i="0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d>
                          <m:dPr>
                            <m:begChr m:val="("/>
                            <m:endChr m:val=")"/>
                            <m:grow/>
                            <m:ctrlP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d>
                      </m:e>
                    </m:rad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, Leiterumfang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>):</a:t>
                </a:r>
                <a:endParaRPr lang="de-DE" sz="1733" dirty="0"/>
              </a:p>
            </p:txBody>
          </p:sp>
        </mc:Choice>
        <mc:Fallback>
          <p:sp>
            <p:nvSpPr>
              <p:cNvPr id="5" name="Textfeld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2267346"/>
                <a:ext cx="10652760" cy="3424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Formel 6"/>
              <p:cNvSpPr txBox="1"/>
              <p:nvPr/>
            </p:nvSpPr>
            <p:spPr>
              <a:xfrm>
                <a:off x="768096" y="2682982"/>
                <a:ext cx="10652760" cy="79641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∫"/>
                          <m:limLoc m:val="subSup"/>
                          <m:subHide m:val="off"/>
                          <m:supHide m:val="off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f>
                            <m:fPr>
                              <m:type m:val="bar"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den>
                          </m:f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grow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  <m:d>
                                    <m:dPr>
                                      <m:begChr m:val="("/>
                                      <m:endChr m:val=")"/>
                                      <m:grow/>
                                      <m:ctrlP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i="1" sz="1733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nary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 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 </m:t>
                      </m:r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6" name="Formel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2682982"/>
                <a:ext cx="10652760" cy="7964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feld 7"/>
              <p:cNvSpPr txBox="1"/>
              <p:nvPr/>
            </p:nvSpPr>
            <p:spPr>
              <a:xfrm>
                <a:off x="768096" y="3616554"/>
                <a:ext cx="10652760" cy="30923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733" b="1" dirty="0">
                    <a:solidFill>
                      <a:srgbClr val="4C4D4C"/>
                    </a:solidFill>
                  </a:rPr>
                  <a:t>Beispiel:</a:t>
                </a:r>
                <a:r>
                  <a:rPr lang="de-DE" sz="1733" dirty="0">
                    <a:solidFill>
                      <a:srgbClr val="4C4D4C"/>
                    </a:solidFill>
                  </a:rPr>
                  <a:t xml:space="preserve"> Kupferdipol (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 xml:space="preserve"> 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) bei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 xml:space="preserve"> 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(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 xml:space="preserve"> 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), Leiterradius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 xml:space="preserve"> 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>:</a:t>
                </a:r>
                <a:endParaRPr lang="de-DE" sz="1733" dirty="0"/>
              </a:p>
            </p:txBody>
          </p:sp>
        </mc:Choice>
        <mc:Fallback>
          <p:sp>
            <p:nvSpPr>
              <p:cNvPr id="7" name="Textfeld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3616554"/>
                <a:ext cx="10652760" cy="30923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el 8"/>
              <p:cNvSpPr txBox="1"/>
              <p:nvPr/>
            </p:nvSpPr>
            <p:spPr>
              <a:xfrm>
                <a:off x="768096" y="3998939"/>
                <a:ext cx="10652760" cy="65907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  </m:t>
                      </m:r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  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73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 xml:space="preserve"> 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num>
                        <m:den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73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 xml:space="preserve"> 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 xml:space="preserve"> 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99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8" name="Formel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3998939"/>
                <a:ext cx="10652760" cy="6590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el 9"/>
              <p:cNvSpPr txBox="1"/>
              <p:nvPr/>
            </p:nvSpPr>
            <p:spPr>
              <a:xfrm>
                <a:off x="768096" y="4731167"/>
                <a:ext cx="10652760" cy="37119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64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 </m:t>
                      </m:r>
                      <m:acc>
                        <m:accPr>
                          <m:chr m:val="̂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acc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 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9" name="Formel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4731167"/>
                <a:ext cx="10652760" cy="37119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feld 10"/>
              <p:cNvSpPr txBox="1"/>
              <p:nvPr/>
            </p:nvSpPr>
            <p:spPr>
              <a:xfrm>
                <a:off x="768096" y="5212091"/>
                <a:ext cx="10652760" cy="55445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733" dirty="0">
                    <a:solidFill>
                      <a:srgbClr val="4C4D4C"/>
                    </a:solidFill>
                  </a:rPr>
                  <a:t>→ Beim metallischen Halbwellendipol sind die Leiterverluste vernachlässigbar (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). Kritisch werden sie erst bei elektrisch kleinen Antennen (kleines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>).</a:t>
                </a:r>
                <a:endParaRPr lang="de-DE" sz="1733" dirty="0"/>
              </a:p>
            </p:txBody>
          </p:sp>
        </mc:Choice>
        <mc:Fallback>
          <p:sp>
            <p:nvSpPr>
              <p:cNvPr id="10" name="Textfeld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5212091"/>
                <a:ext cx="10652760" cy="55445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11" name="Foliennummernplatzhalt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 xml:space="preserve">Seite </a:t>
            </a:r>
            <a:fld id="{EBA229B5-7CFD-BC45-B1DD-7E8FA6FF2A01}" type="slidenum">
              <a:rPr lang="de-DE" smtClean="0"/>
              <a:pPr/>
              <a:t>27</a:t>
            </a:fld>
            <a:endParaRPr lang="de-DE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Richtwirkung und Antennengewinn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feld 3"/>
              <p:cNvSpPr txBox="1"/>
              <p:nvPr/>
            </p:nvSpPr>
            <p:spPr>
              <a:xfrm>
                <a:off x="768096" y="1115568"/>
                <a:ext cx="10652760" cy="48795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733" dirty="0">
                    <a:solidFill>
                      <a:srgbClr val="4C4D4C"/>
                    </a:solidFill>
                  </a:rPr>
                  <a:t xml:space="preserve">In der Praxis wird der Dipol über eine Leitung mit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gespeist. Ein Teil der Leistung wird am Speisepunkt reflektiert → </a:t>
                </a:r>
                <a:r>
                  <a:rPr lang="de-DE" sz="1733" b="1" dirty="0">
                    <a:solidFill>
                      <a:srgbClr val="4C4D4C"/>
                    </a:solidFill>
                  </a:rPr>
                  <a:t>realisierter Gewinn</a:t>
                </a:r>
                <a:r>
                  <a:rPr lang="de-DE" sz="1733" dirty="0">
                    <a:solidFill>
                      <a:srgbClr val="4C4D4C"/>
                    </a:solidFill>
                  </a:rPr>
                  <a:t>:</a:t>
                </a:r>
                <a:endParaRPr lang="de-DE" sz="1733" dirty="0"/>
              </a:p>
            </p:txBody>
          </p:sp>
        </mc:Choice>
        <mc:Fallback>
          <p:sp>
            <p:nvSpPr>
              <p:cNvPr id="3" name="Textfeld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1115568"/>
                <a:ext cx="10652760" cy="4879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Formel 4"/>
              <p:cNvSpPr txBox="1"/>
              <p:nvPr/>
            </p:nvSpPr>
            <p:spPr>
              <a:xfrm>
                <a:off x="768096" y="1676677"/>
                <a:ext cx="10652760" cy="666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("/>
                          <m:endChr m:val=")"/>
                          <m:grow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grow/>
                                  <m:ctrlP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i="1" sz="1733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</m:e>
                            <m:sup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  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4" name="Formel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1676677"/>
                <a:ext cx="10652760" cy="666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feld 5"/>
              <p:cNvSpPr txBox="1"/>
              <p:nvPr/>
            </p:nvSpPr>
            <p:spPr>
              <a:xfrm>
                <a:off x="768096" y="2508268"/>
                <a:ext cx="10652760" cy="29260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733" b="1" dirty="0">
                    <a:solidFill>
                      <a:srgbClr val="4C4D4C"/>
                    </a:solidFill>
                  </a:rPr>
                  <a:t>Beispiel:</a:t>
                </a:r>
                <a:r>
                  <a:rPr lang="de-DE" sz="1733" dirty="0">
                    <a:solidFill>
                      <a:srgbClr val="4C4D4C"/>
                    </a:solidFill>
                  </a:rPr>
                  <a:t xml:space="preserve">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-Dipol an einer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 xml:space="preserve"> 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>-Leitung:</a:t>
                </a:r>
                <a:endParaRPr lang="de-DE" sz="1733" dirty="0"/>
              </a:p>
            </p:txBody>
          </p:sp>
        </mc:Choice>
        <mc:Fallback>
          <p:sp>
            <p:nvSpPr>
              <p:cNvPr id="5" name="Textfeld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2508268"/>
                <a:ext cx="10652760" cy="2926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Formel 6"/>
              <p:cNvSpPr txBox="1"/>
              <p:nvPr/>
            </p:nvSpPr>
            <p:spPr>
              <a:xfrm>
                <a:off x="768096" y="2874028"/>
                <a:ext cx="10652760" cy="68020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("/>
                              <m:endChr m:val=")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73</m:t>
                              </m:r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 xml:space="preserve"> 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42</m:t>
                              </m:r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d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50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 xml:space="preserve"> 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num>
                        <m:den>
                          <m:d>
                            <m:dPr>
                              <m:begChr m:val="("/>
                              <m:endChr m:val=")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73</m:t>
                              </m:r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 xml:space="preserve"> 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42</m:t>
                              </m:r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d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50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 xml:space="preserve"> 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37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sSup>
                        <m:sSup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 xml:space="preserve"> </m:t>
                          </m:r>
                          <m:sSup>
                            <m:sSupPr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42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de-DE" i="0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6" name="Formel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2874028"/>
                <a:ext cx="10652760" cy="6802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el 7"/>
              <p:cNvSpPr txBox="1"/>
              <p:nvPr/>
            </p:nvSpPr>
            <p:spPr>
              <a:xfrm>
                <a:off x="768096" y="3627383"/>
                <a:ext cx="10652760" cy="40024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grow/>
                              <m:ctrlP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 sz="1733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  <m:sup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86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 </m:t>
                      </m:r>
                      <m:acc>
                        <m:accPr>
                          <m:chr m:val="̂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acc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 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65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 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 </m:t>
                      </m:r>
                      <m:sSub>
                        <m:sSubPr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41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 </m:t>
                      </m:r>
                      <m:acc>
                        <m:accPr>
                          <m:chr m:val="̂"/>
                          <m:ctrlPr>
                            <a:rPr lang="de-DE" i="1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de-DE" i="0" sz="1733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acc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 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50</m:t>
                      </m:r>
                      <m:r>
                        <a:rPr lang="de-DE" i="1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m:rPr>
                          <m:sty m:val="p"/>
                        </m:rPr>
                        <a:rPr lang="de-DE" i="0" sz="1733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de-DE" sz="1733" dirty="0"/>
              </a:p>
            </p:txBody>
          </p:sp>
        </mc:Choice>
        <mc:Fallback>
          <p:sp>
            <p:nvSpPr>
              <p:cNvPr id="7" name="Formel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3627383"/>
                <a:ext cx="10652760" cy="40024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feld 8"/>
              <p:cNvSpPr txBox="1"/>
              <p:nvPr/>
            </p:nvSpPr>
            <p:spPr>
              <a:xfrm>
                <a:off x="768096" y="4192223"/>
                <a:ext cx="10652760" cy="61264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228594" indent="-228594" algn="l">
                  <a:lnSpc>
                    <a:spcPct val="100000"/>
                  </a:lnSpc>
                  <a:spcBef>
                    <a:spcPts val="576"/>
                  </a:spcBef>
                  <a:buClr>
                    <a:srgbClr val="4C4D4C"/>
                  </a:buClr>
                  <a:buFont typeface="Wingdings" pitchFamily="2" charset="2"/>
                  <a:buChar char="§"/>
                </a:pPr>
                <a:r>
                  <a:rPr lang="de-DE" sz="1733" dirty="0">
                    <a:solidFill>
                      <a:srgbClr val="4C4D4C"/>
                    </a:solidFill>
                  </a:rPr>
                  <a:t>Verkürzter, resonanter Dipol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 xml:space="preserve"> 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, reell):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grow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de-DE" sz="1733" dirty="0">
                    <a:solidFill>
                      <a:srgbClr val="4C4D4C"/>
                    </a:solidFill>
                  </a:rPr>
                  <a:t xml:space="preserve"> → nur ca. 1,5 % Leistungsverlust</a:t>
                </a:r>
                <a:endParaRPr lang="de-DE" sz="1733" dirty="0"/>
              </a:p>
              <a:p>
                <a:pPr marL="228594" indent="-228594" algn="l">
                  <a:lnSpc>
                    <a:spcPct val="100000"/>
                  </a:lnSpc>
                  <a:spcBef>
                    <a:spcPts val="576"/>
                  </a:spcBef>
                  <a:buClr>
                    <a:srgbClr val="4C4D4C"/>
                  </a:buClr>
                  <a:buFont typeface="Wingdings" pitchFamily="2" charset="2"/>
                  <a:buChar char="§"/>
                </a:pPr>
                <a:r>
                  <a:rPr lang="de-DE" sz="1733" dirty="0">
                    <a:solidFill>
                      <a:srgbClr val="4C4D4C"/>
                    </a:solidFill>
                  </a:rPr>
                  <a:t>Zusätzlich nötig: Symmetrierglied (Balun) – der Dipol ist symmetrisch, die Koaxialleitung unsymmetrisch</a:t>
                </a:r>
                <a:endParaRPr lang="de-DE" sz="1733" dirty="0"/>
              </a:p>
            </p:txBody>
          </p:sp>
        </mc:Choice>
        <mc:Fallback>
          <p:sp>
            <p:nvSpPr>
              <p:cNvPr id="8" name="Textfeld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4192223"/>
                <a:ext cx="10652760" cy="61264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9" name="Foliennummernplatzhalter 9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 xml:space="preserve">Seite </a:t>
            </a:r>
            <a:fld id="{EBA229B5-7CFD-BC45-B1DD-7E8FA6FF2A01}" type="slidenum">
              <a:rPr lang="de-DE" smtClean="0"/>
              <a:pPr/>
              <a:t>28</a:t>
            </a:fld>
            <a:endParaRPr lang="de-DE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Vergleich zum Hertzschen Dipol</a:t>
            </a:r>
          </a:p>
        </p:txBody>
      </p:sp>
      <p:sp>
        <p:nvSpPr>
          <p:cNvPr id="3" name="Rechteck 3"/>
          <p:cNvSpPr/>
          <p:nvPr/>
        </p:nvSpPr>
        <p:spPr>
          <a:xfrm>
            <a:off x="768096" y="1188720"/>
            <a:ext cx="10652760" cy="426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de-DE" dirty="0"/>
          </a:p>
        </p:txBody>
      </p:sp>
      <p:sp>
        <p:nvSpPr>
          <p:cNvPr id="4" name="Rechteck 4"/>
          <p:cNvSpPr/>
          <p:nvPr/>
        </p:nvSpPr>
        <p:spPr>
          <a:xfrm>
            <a:off x="768096" y="1615440"/>
            <a:ext cx="10652760" cy="426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endParaRPr lang="de-DE" dirty="0"/>
          </a:p>
        </p:txBody>
      </p:sp>
      <p:sp>
        <p:nvSpPr>
          <p:cNvPr id="5" name="Rechteck 5"/>
          <p:cNvSpPr/>
          <p:nvPr/>
        </p:nvSpPr>
        <p:spPr>
          <a:xfrm>
            <a:off x="768096" y="2042160"/>
            <a:ext cx="10652760" cy="4513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endParaRPr lang="de-DE" dirty="0"/>
          </a:p>
        </p:txBody>
      </p:sp>
      <p:sp>
        <p:nvSpPr>
          <p:cNvPr id="6" name="Rechteck 6"/>
          <p:cNvSpPr/>
          <p:nvPr/>
        </p:nvSpPr>
        <p:spPr>
          <a:xfrm>
            <a:off x="768096" y="2493541"/>
            <a:ext cx="10652760" cy="426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endParaRPr lang="de-DE" dirty="0"/>
          </a:p>
        </p:txBody>
      </p:sp>
      <p:sp>
        <p:nvSpPr>
          <p:cNvPr id="7" name="Rechteck 7"/>
          <p:cNvSpPr/>
          <p:nvPr/>
        </p:nvSpPr>
        <p:spPr>
          <a:xfrm>
            <a:off x="768096" y="2920261"/>
            <a:ext cx="10652760" cy="4056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endParaRPr lang="de-DE" dirty="0"/>
          </a:p>
        </p:txBody>
      </p:sp>
      <p:sp>
        <p:nvSpPr>
          <p:cNvPr id="8" name="Rechteck 8"/>
          <p:cNvSpPr/>
          <p:nvPr/>
        </p:nvSpPr>
        <p:spPr>
          <a:xfrm>
            <a:off x="768096" y="3325922"/>
            <a:ext cx="10652760" cy="4804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endParaRPr lang="de-DE" dirty="0"/>
          </a:p>
        </p:txBody>
      </p:sp>
      <p:sp>
        <p:nvSpPr>
          <p:cNvPr id="9" name="Rechteck 9"/>
          <p:cNvSpPr/>
          <p:nvPr/>
        </p:nvSpPr>
        <p:spPr>
          <a:xfrm>
            <a:off x="768096" y="3806398"/>
            <a:ext cx="10652760" cy="426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endParaRPr lang="de-DE" dirty="0"/>
          </a:p>
        </p:txBody>
      </p:sp>
      <p:sp>
        <p:nvSpPr>
          <p:cNvPr id="10" name="Rechteck 10"/>
          <p:cNvSpPr/>
          <p:nvPr/>
        </p:nvSpPr>
        <p:spPr>
          <a:xfrm>
            <a:off x="768096" y="4233118"/>
            <a:ext cx="10652760" cy="41813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endParaRPr lang="de-DE" dirty="0"/>
          </a:p>
        </p:txBody>
      </p:sp>
      <p:sp>
        <p:nvSpPr>
          <p:cNvPr id="11" name="Textfeld 11"/>
          <p:cNvSpPr txBox="1"/>
          <p:nvPr/>
        </p:nvSpPr>
        <p:spPr>
          <a:xfrm>
            <a:off x="841248" y="1261872"/>
            <a:ext cx="2596896" cy="28041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endParaRPr lang="de-DE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feld 12"/>
              <p:cNvSpPr txBox="1"/>
              <p:nvPr/>
            </p:nvSpPr>
            <p:spPr>
              <a:xfrm>
                <a:off x="3584448" y="1274480"/>
                <a:ext cx="3831336" cy="25520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600" b="1" dirty="0">
                    <a:solidFill>
                      <a:srgbClr val="FFFFFF"/>
                    </a:solidFill>
                  </a:rPr>
                  <a:t>Hertzscher Dipol (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≪</m:t>
                    </m:r>
                    <m:r>
                      <a:rPr lang="de-DE" i="1" sz="1733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de-DE" sz="1600" b="1" dirty="0">
                    <a:solidFill>
                      <a:srgbClr val="FFFFFF"/>
                    </a:solidFill>
                  </a:rPr>
                  <a:t>)</a:t>
                </a:r>
                <a:endParaRPr lang="de-DE" sz="1600" dirty="0"/>
              </a:p>
            </p:txBody>
          </p:sp>
        </mc:Choice>
        <mc:Fallback>
          <p:sp>
            <p:nvSpPr>
              <p:cNvPr id="12" name="Textfeld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4448" y="1274480"/>
                <a:ext cx="3831336" cy="25520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feld 13"/>
              <p:cNvSpPr txBox="1"/>
              <p:nvPr/>
            </p:nvSpPr>
            <p:spPr>
              <a:xfrm>
                <a:off x="7562088" y="1264089"/>
                <a:ext cx="3785616" cy="27598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600" b="1" dirty="0">
                    <a:solidFill>
                      <a:srgbClr val="FFFFFF"/>
                    </a:solidFill>
                  </a:rPr>
                  <a:t>Halbwellendipol (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 sz="1733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de-DE" i="1" sz="1733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de-DE" sz="1600" b="1" dirty="0">
                    <a:solidFill>
                      <a:srgbClr val="FFFFFF"/>
                    </a:solidFill>
                  </a:rPr>
                  <a:t>)</a:t>
                </a:r>
                <a:endParaRPr lang="de-DE" sz="1600" dirty="0"/>
              </a:p>
            </p:txBody>
          </p:sp>
        </mc:Choice>
        <mc:Fallback>
          <p:sp>
            <p:nvSpPr>
              <p:cNvPr id="13" name="Textfeld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2088" y="1264089"/>
                <a:ext cx="3785616" cy="2759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14" name="Textfeld 14"/>
          <p:cNvSpPr txBox="1"/>
          <p:nvPr/>
        </p:nvSpPr>
        <p:spPr>
          <a:xfrm>
            <a:off x="841248" y="1688592"/>
            <a:ext cx="2596896" cy="28041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de-DE" sz="1600" b="1" dirty="0">
                <a:solidFill>
                  <a:srgbClr val="4C4D4C"/>
                </a:solidFill>
              </a:rPr>
              <a:t>Stromverteilung</a:t>
            </a:r>
            <a:endParaRPr lang="de-DE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feld 15"/>
              <p:cNvSpPr txBox="1"/>
              <p:nvPr/>
            </p:nvSpPr>
            <p:spPr>
              <a:xfrm>
                <a:off x="3584448" y="1690809"/>
                <a:ext cx="3831336" cy="27598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begChr m:val="("/>
                        <m:endChr m:val=")"/>
                        <m:grow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sz="1600" dirty="0">
                    <a:solidFill>
                      <a:srgbClr val="4C4D4C"/>
                    </a:solidFill>
                  </a:rPr>
                  <a:t xml:space="preserve"> (konstant)</a:t>
                </a:r>
                <a:endParaRPr lang="de-DE" sz="1600" dirty="0"/>
              </a:p>
            </p:txBody>
          </p:sp>
        </mc:Choice>
        <mc:Fallback>
          <p:sp>
            <p:nvSpPr>
              <p:cNvPr id="15" name="Textfeld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4448" y="1690809"/>
                <a:ext cx="3831336" cy="2759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feld 16"/>
              <p:cNvSpPr txBox="1"/>
              <p:nvPr/>
            </p:nvSpPr>
            <p:spPr>
              <a:xfrm>
                <a:off x="7562088" y="1690809"/>
                <a:ext cx="3785616" cy="27598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begChr m:val="("/>
                        <m:endChr m:val=")"/>
                        <m:grow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endChr m:val=")"/>
                        <m:grow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endParaRPr lang="de-DE" sz="1600" dirty="0"/>
              </a:p>
            </p:txBody>
          </p:sp>
        </mc:Choice>
        <mc:Fallback>
          <p:sp>
            <p:nvSpPr>
              <p:cNvPr id="16" name="Textfeld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2088" y="1690809"/>
                <a:ext cx="3785616" cy="2759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17" name="Textfeld 17"/>
          <p:cNvSpPr txBox="1"/>
          <p:nvPr/>
        </p:nvSpPr>
        <p:spPr>
          <a:xfrm>
            <a:off x="841248" y="2127643"/>
            <a:ext cx="2596896" cy="28041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de-DE" sz="1600" b="1" dirty="0">
                <a:solidFill>
                  <a:srgbClr val="4C4D4C"/>
                </a:solidFill>
              </a:rPr>
              <a:t>Richtcharakteristik</a:t>
            </a:r>
            <a:endParaRPr lang="de-DE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feld 18"/>
              <p:cNvSpPr txBox="1"/>
              <p:nvPr/>
            </p:nvSpPr>
            <p:spPr>
              <a:xfrm>
                <a:off x="3584448" y="2158954"/>
                <a:ext cx="3831336" cy="21779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𝜗</m:t>
                    </m:r>
                  </m:oMath>
                </a14:m>
                <a:endParaRPr lang="de-DE" sz="1600" dirty="0"/>
              </a:p>
            </p:txBody>
          </p:sp>
        </mc:Choice>
        <mc:Fallback>
          <p:sp>
            <p:nvSpPr>
              <p:cNvPr id="18" name="Textfeld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4448" y="2158954"/>
                <a:ext cx="3831336" cy="21779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feld 19"/>
              <p:cNvSpPr txBox="1"/>
              <p:nvPr/>
            </p:nvSpPr>
            <p:spPr>
              <a:xfrm>
                <a:off x="7562088" y="2115312"/>
                <a:ext cx="3785616" cy="30507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endChr m:val=")"/>
                        <m:grow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de-DE" i="0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𝜗</m:t>
                        </m:r>
                      </m:e>
                    </m:d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𝜗</m:t>
                    </m:r>
                  </m:oMath>
                </a14:m>
                <a:endParaRPr lang="de-DE" sz="1600" dirty="0"/>
              </a:p>
            </p:txBody>
          </p:sp>
        </mc:Choice>
        <mc:Fallback>
          <p:sp>
            <p:nvSpPr>
              <p:cNvPr id="19" name="Textfeld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2088" y="2115312"/>
                <a:ext cx="3785616" cy="3050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20" name="Textfeld 20"/>
          <p:cNvSpPr txBox="1"/>
          <p:nvPr/>
        </p:nvSpPr>
        <p:spPr>
          <a:xfrm>
            <a:off x="841248" y="2566693"/>
            <a:ext cx="2596896" cy="28041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de-DE" sz="1600" b="1" dirty="0">
                <a:solidFill>
                  <a:srgbClr val="4C4D4C"/>
                </a:solidFill>
              </a:rPr>
              <a:t>Halbwertsbreite</a:t>
            </a:r>
            <a:endParaRPr lang="de-DE" sz="1600" dirty="0"/>
          </a:p>
        </p:txBody>
      </p:sp>
      <p:sp>
        <p:nvSpPr>
          <p:cNvPr id="21" name="Textfeld 21"/>
          <p:cNvSpPr txBox="1"/>
          <p:nvPr/>
        </p:nvSpPr>
        <p:spPr>
          <a:xfrm>
            <a:off x="3584448" y="2566693"/>
            <a:ext cx="3831336" cy="28041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de-DE" sz="1600" dirty="0">
                <a:solidFill>
                  <a:srgbClr val="4C4D4C"/>
                </a:solidFill>
              </a:rPr>
              <a:t>90°</a:t>
            </a:r>
            <a:endParaRPr lang="de-DE" sz="1600" dirty="0"/>
          </a:p>
        </p:txBody>
      </p:sp>
      <p:sp>
        <p:nvSpPr>
          <p:cNvPr id="22" name="Textfeld 22"/>
          <p:cNvSpPr txBox="1"/>
          <p:nvPr/>
        </p:nvSpPr>
        <p:spPr>
          <a:xfrm>
            <a:off x="7562088" y="2566693"/>
            <a:ext cx="3785616" cy="28041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de-DE" sz="1600" dirty="0">
                <a:solidFill>
                  <a:srgbClr val="4C4D4C"/>
                </a:solidFill>
              </a:rPr>
              <a:t>78°</a:t>
            </a:r>
            <a:endParaRPr lang="de-DE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feld 23"/>
              <p:cNvSpPr txBox="1"/>
              <p:nvPr/>
            </p:nvSpPr>
            <p:spPr>
              <a:xfrm>
                <a:off x="841248" y="3016273"/>
                <a:ext cx="2596896" cy="21363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600" b="1" dirty="0">
                    <a:solidFill>
                      <a:srgbClr val="4C4D4C"/>
                    </a:solidFill>
                  </a:rPr>
                  <a:t xml:space="preserve">Direktivität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de-DE" sz="1600" dirty="0"/>
              </a:p>
            </p:txBody>
          </p:sp>
        </mc:Choice>
        <mc:Fallback>
          <p:sp>
            <p:nvSpPr>
              <p:cNvPr id="23" name="Textfeld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248" y="3016273"/>
                <a:ext cx="2596896" cy="21363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feld 24"/>
              <p:cNvSpPr txBox="1"/>
              <p:nvPr/>
            </p:nvSpPr>
            <p:spPr>
              <a:xfrm>
                <a:off x="3584448" y="2993413"/>
                <a:ext cx="3831336" cy="25935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 xml:space="preserve"> </m:t>
                    </m:r>
                    <m:acc>
                      <m:accPr>
                        <m:chr m:val="̂"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de-DE" i="0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acc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 xml:space="preserve"> 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76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 xml:space="preserve"> 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endParaRPr lang="de-DE" sz="1600" dirty="0"/>
              </a:p>
            </p:txBody>
          </p:sp>
        </mc:Choice>
        <mc:Fallback>
          <p:sp>
            <p:nvSpPr>
              <p:cNvPr id="24" name="Textfeld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4448" y="2993413"/>
                <a:ext cx="3831336" cy="25935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feld 25"/>
              <p:cNvSpPr txBox="1"/>
              <p:nvPr/>
            </p:nvSpPr>
            <p:spPr>
              <a:xfrm>
                <a:off x="7562088" y="2993413"/>
                <a:ext cx="3785616" cy="25935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 xml:space="preserve"> </m:t>
                    </m:r>
                    <m:acc>
                      <m:accPr>
                        <m:chr m:val="̂"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de-DE" i="0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acc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 xml:space="preserve"> 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 xml:space="preserve"> 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endParaRPr lang="de-DE" sz="1600" dirty="0"/>
              </a:p>
            </p:txBody>
          </p:sp>
        </mc:Choice>
        <mc:Fallback>
          <p:sp>
            <p:nvSpPr>
              <p:cNvPr id="25" name="Textfeld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2088" y="2993413"/>
                <a:ext cx="3785616" cy="25935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feld 26"/>
              <p:cNvSpPr txBox="1"/>
              <p:nvPr/>
            </p:nvSpPr>
            <p:spPr>
              <a:xfrm>
                <a:off x="841248" y="3432325"/>
                <a:ext cx="2596896" cy="26767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600" b="1" dirty="0">
                    <a:solidFill>
                      <a:srgbClr val="4C4D4C"/>
                    </a:solidFill>
                  </a:rPr>
                  <a:t xml:space="preserve">Strahlungswiderstand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endParaRPr lang="de-DE" sz="1600" dirty="0"/>
              </a:p>
            </p:txBody>
          </p:sp>
        </mc:Choice>
        <mc:Fallback>
          <p:sp>
            <p:nvSpPr>
              <p:cNvPr id="26" name="Textfeld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248" y="3432325"/>
                <a:ext cx="2596896" cy="26767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feld 27"/>
              <p:cNvSpPr txBox="1"/>
              <p:nvPr/>
            </p:nvSpPr>
            <p:spPr>
              <a:xfrm>
                <a:off x="3584448" y="3399074"/>
                <a:ext cx="3831336" cy="334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80</m:t>
                    </m:r>
                    <m:sSup>
                      <m:sSup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("/>
                            <m:endChr m:val=")"/>
                            <m:grow/>
                            <m:ctrlP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m:rPr>
                                <m:sty m:val="p"/>
                              </m:rPr>
                              <a:rPr lang="de-DE" i="0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de-DE" i="1" sz="1733">
                                <a:solidFill>
                                  <a:srgbClr val="4C4D4C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d>
                      </m:e>
                      <m:sup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de-DE" sz="1600" dirty="0">
                    <a:solidFill>
                      <a:srgbClr val="4C4D4C"/>
                    </a:solidFill>
                  </a:rPr>
                  <a:t xml:space="preserve"> (z. B.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 xml:space="preserve"> 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de-DE" sz="1600" dirty="0">
                    <a:solidFill>
                      <a:srgbClr val="4C4D4C"/>
                    </a:solidFill>
                  </a:rPr>
                  <a:t xml:space="preserve"> für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de-DE" sz="1600" dirty="0">
                    <a:solidFill>
                      <a:srgbClr val="4C4D4C"/>
                    </a:solidFill>
                  </a:rPr>
                  <a:t>)</a:t>
                </a:r>
                <a:endParaRPr lang="de-DE" sz="1600" dirty="0"/>
              </a:p>
            </p:txBody>
          </p:sp>
        </mc:Choice>
        <mc:Fallback>
          <p:sp>
            <p:nvSpPr>
              <p:cNvPr id="27" name="Textfeld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4448" y="3399074"/>
                <a:ext cx="3831336" cy="33417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feld 28"/>
              <p:cNvSpPr txBox="1"/>
              <p:nvPr/>
            </p:nvSpPr>
            <p:spPr>
              <a:xfrm>
                <a:off x="7562088" y="3438560"/>
                <a:ext cx="3785616" cy="25520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73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 xml:space="preserve"> 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de-DE" sz="1600" dirty="0"/>
              </a:p>
            </p:txBody>
          </p:sp>
        </mc:Choice>
        <mc:Fallback>
          <p:sp>
            <p:nvSpPr>
              <p:cNvPr id="28" name="Textfeld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2088" y="3438560"/>
                <a:ext cx="3785616" cy="25520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feld 29"/>
              <p:cNvSpPr txBox="1"/>
              <p:nvPr/>
            </p:nvSpPr>
            <p:spPr>
              <a:xfrm>
                <a:off x="841248" y="3888001"/>
                <a:ext cx="2596896" cy="26351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600" b="1" dirty="0">
                    <a:solidFill>
                      <a:srgbClr val="4C4D4C"/>
                    </a:solidFill>
                  </a:rPr>
                  <a:t xml:space="preserve">Eingangsimpedanz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de-DE" sz="1600" dirty="0"/>
              </a:p>
            </p:txBody>
          </p:sp>
        </mc:Choice>
        <mc:Fallback>
          <p:sp>
            <p:nvSpPr>
              <p:cNvPr id="29" name="Textfeld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248" y="3888001"/>
                <a:ext cx="2596896" cy="26351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30" name="Textfeld 30"/>
          <p:cNvSpPr txBox="1"/>
          <p:nvPr/>
        </p:nvSpPr>
        <p:spPr>
          <a:xfrm>
            <a:off x="3584448" y="3879550"/>
            <a:ext cx="3831336" cy="28041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de-DE" sz="1600" dirty="0">
                <a:solidFill>
                  <a:srgbClr val="4C4D4C"/>
                </a:solidFill>
              </a:rPr>
              <a:t>kleiner Realteil, stark kapazitiv</a:t>
            </a:r>
            <a:endParaRPr lang="de-DE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feld 31"/>
              <p:cNvSpPr txBox="1"/>
              <p:nvPr/>
            </p:nvSpPr>
            <p:spPr>
              <a:xfrm>
                <a:off x="7562088" y="3883845"/>
                <a:ext cx="3785616" cy="27182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≈</m:t>
                    </m:r>
                    <m:d>
                      <m:dPr>
                        <m:begChr m:val="("/>
                        <m:endChr m:val=")"/>
                        <m:grow/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73</m:t>
                        </m:r>
                        <m:r>
                          <m:rPr>
                            <m:sty m:val="p"/>
                          </m:rPr>
                          <a:rPr lang="de-DE" i="0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de-DE" i="0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 xml:space="preserve"> </m:t>
                        </m:r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  <m:r>
                          <m:rPr>
                            <m:sty m:val="p"/>
                          </m:rPr>
                          <a:rPr lang="de-DE" i="0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de-DE" sz="1600" dirty="0">
                    <a:solidFill>
                      <a:srgbClr val="4C4D4C"/>
                    </a:solidFill>
                  </a:rPr>
                  <a:t xml:space="preserve"> (leicht induktiv)</a:t>
                </a:r>
                <a:endParaRPr lang="de-DE" sz="1600" dirty="0"/>
              </a:p>
            </p:txBody>
          </p:sp>
        </mc:Choice>
        <mc:Fallback>
          <p:sp>
            <p:nvSpPr>
              <p:cNvPr id="31" name="Textfeld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2088" y="3883845"/>
                <a:ext cx="3785616" cy="27182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feld 32"/>
              <p:cNvSpPr txBox="1"/>
              <p:nvPr/>
            </p:nvSpPr>
            <p:spPr>
              <a:xfrm>
                <a:off x="841248" y="4312504"/>
                <a:ext cx="2596896" cy="25935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600" b="1" dirty="0">
                    <a:solidFill>
                      <a:srgbClr val="4C4D4C"/>
                    </a:solidFill>
                  </a:rPr>
                  <a:t xml:space="preserve">Wirkungsgrad </a:t>
                </a:r>
                <a14:m>
                  <m:oMath xmlns:m="http://schemas.openxmlformats.org/officeDocument/2006/math"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endParaRPr lang="de-DE" sz="1600" dirty="0"/>
              </a:p>
            </p:txBody>
          </p:sp>
        </mc:Choice>
        <mc:Fallback>
          <p:sp>
            <p:nvSpPr>
              <p:cNvPr id="32" name="Textfeld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248" y="4312504"/>
                <a:ext cx="2596896" cy="25935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feld 33"/>
              <p:cNvSpPr txBox="1"/>
              <p:nvPr/>
            </p:nvSpPr>
            <p:spPr>
              <a:xfrm>
                <a:off x="3584448" y="4306270"/>
                <a:ext cx="3831336" cy="27182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de-DE" sz="1600" dirty="0">
                    <a:solidFill>
                      <a:srgbClr val="4C4D4C"/>
                    </a:solidFill>
                  </a:rPr>
                  <a:t>oft gering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de-DE" sz="1600" dirty="0">
                    <a:solidFill>
                      <a:srgbClr val="4C4D4C"/>
                    </a:solidFill>
                  </a:rPr>
                  <a:t xml:space="preserve"> klein gegenüber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i="1" sz="1733">
                            <a:solidFill>
                              <a:srgbClr val="4C4D4C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lang="de-DE" sz="1600" dirty="0">
                    <a:solidFill>
                      <a:srgbClr val="4C4D4C"/>
                    </a:solidFill>
                  </a:rPr>
                  <a:t>)</a:t>
                </a:r>
                <a:endParaRPr lang="de-DE" sz="1600" dirty="0"/>
              </a:p>
            </p:txBody>
          </p:sp>
        </mc:Choice>
        <mc:Fallback>
          <p:sp>
            <p:nvSpPr>
              <p:cNvPr id="33" name="Textfeld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4448" y="4306270"/>
                <a:ext cx="3831336" cy="27182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feld 34"/>
              <p:cNvSpPr txBox="1"/>
              <p:nvPr/>
            </p:nvSpPr>
            <p:spPr>
              <a:xfrm>
                <a:off x="7562088" y="4314583"/>
                <a:ext cx="3785616" cy="25520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a:rPr lang="de-DE" i="1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 xml:space="preserve"> </m:t>
                    </m:r>
                    <m:r>
                      <m:rPr>
                        <m:sty m:val="p"/>
                      </m:rPr>
                      <a:rPr lang="de-DE" i="0" sz="1733">
                        <a:solidFill>
                          <a:srgbClr val="4C4D4C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de-DE" sz="1600" dirty="0">
                    <a:solidFill>
                      <a:srgbClr val="4C4D4C"/>
                    </a:solidFill>
                  </a:rPr>
                  <a:t xml:space="preserve"> (metallischer Dipol)</a:t>
                </a:r>
                <a:endParaRPr lang="de-DE" sz="1600" dirty="0"/>
              </a:p>
            </p:txBody>
          </p:sp>
        </mc:Choice>
        <mc:Fallback>
          <p:sp>
            <p:nvSpPr>
              <p:cNvPr id="34" name="Textfeld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2088" y="4314583"/>
                <a:ext cx="3785616" cy="25520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35" name="Foliennummernplatzhalter 3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 xml:space="preserve">Seite </a:t>
            </a:r>
            <a:fld id="{EBA229B5-7CFD-BC45-B1DD-7E8FA6FF2A01}" type="slidenum">
              <a:rPr lang="de-DE" smtClean="0"/>
              <a:pPr/>
              <a:t>29</a:t>
            </a:fld>
            <a:endParaRPr lang="de-DE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Ausblick</a:t>
            </a:r>
          </a:p>
        </p:txBody>
      </p:sp>
      <p:sp>
        <p:nvSpPr>
          <p:cNvPr id="3" name="Inhaltsplatzhalt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u="sng" dirty="0"/>
              <a:t>Halbwellendipol:</a:t>
            </a:r>
          </a:p>
          <a:p>
            <a:r>
              <a:rPr lang="de-DE" dirty="0"/>
              <a:t>Simulation eines Halbwellendipols – Antennengewinn, Effizienz und Impedanz über die Frequenz</a:t>
            </a:r>
          </a:p>
          <a:p>
            <a:r>
              <a:rPr lang="de-DE" dirty="0"/>
              <a:t>Speisung in der Praxis: Symmetrierung (Balun) und Anpassung</a:t>
            </a:r>
          </a:p>
          <a:p>
            <a:pPr marL="0" indent="0">
              <a:buNone/>
            </a:pPr>
            <a:r>
              <a:rPr lang="de-DE" u="sng" dirty="0"/>
              <a:t>Weiterführend:</a:t>
            </a:r>
          </a:p>
          <a:p>
            <a:r>
              <a:rPr lang="de-DE" dirty="0"/>
              <a:t>Dipole beliebiger Länge (L = λ, 3λ/2, …) mit der allgemeinen Stromverteilung</a:t>
            </a:r>
          </a:p>
          <a:p>
            <a:r>
              <a:rPr lang="de-DE" dirty="0"/>
              <a:t>Monopol über leitender Ebene (Spiegelungsprinzip)</a:t>
            </a:r>
          </a:p>
          <a:p>
            <a:r>
              <a:rPr lang="de-DE" dirty="0"/>
              <a:t>Gruppenantennen – Überlagerung mehrerer Strahler (Array-Faktor)</a:t>
            </a:r>
          </a:p>
        </p:txBody>
      </p:sp>
      <p:sp>
        <p:nvSpPr>
          <p:cNvPr id="4" name="Foliennummernplatzhalt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 xml:space="preserve">Seite </a:t>
            </a:r>
            <a:fld id="{EBA229B5-7CFD-BC45-B1DD-7E8FA6FF2A01}" type="slidenum">
              <a:rPr lang="de-DE" smtClean="0"/>
              <a:pPr/>
              <a:t>30</a:t>
            </a:fld>
            <a:endParaRPr lang="de-DE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Vielen Dank</a:t>
            </a:r>
          </a:p>
        </p:txBody>
      </p:sp>
      <p:sp>
        <p:nvSpPr>
          <p:cNvPr id="3" name="Foliennummernplatzhalt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 xml:space="preserve">Seite </a:t>
            </a:r>
            <a:fld id="{EBA229B5-7CFD-BC45-B1DD-7E8FA6FF2A01}" type="slidenum">
              <a:rPr lang="de-DE" smtClean="0"/>
              <a:pPr/>
              <a:t>31</a:t>
            </a:fld>
            <a:endParaRPr lang="de-DE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uibk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361"/>
      </a:accent1>
      <a:accent2>
        <a:srgbClr val="F392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CAD1633-3CB9-43B6-A3D3-9900D0E08987}">
  <we:reference id="wa200005566" version="3.0.0.2" store="de-DE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��
</file>

<file path=customXml/itemProps1.xml><?xml version="1.0" encoding="utf-8"?>
<ds:datastoreItem xmlns:ds="http://schemas.openxmlformats.org/officeDocument/2006/customXml" ds:itemID="{E8D01778-62E1-4AD0-B2FB-E631DD3CCD47}">
  <ds:schemaRefs>
    <ds:schemaRef ds:uri="http://www.w3.org/2001/XMLSchema"/>
    <ds:schemaRef ds:uri="http://www.zhaw.ch/AccessibilityAddI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4270</Words>
  <Application>Microsoft Office PowerPoint</Application>
  <PresentationFormat>Breitbild</PresentationFormat>
  <Paragraphs>588</Paragraphs>
  <Slides>32</Slides>
  <Notes>32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73</vt:i4>
      </vt:variant>
    </vt:vector>
  </HeadingPairs>
  <TitlesOfParts>
    <vt:vector size="80" baseType="lpstr">
      <vt:lpstr>Arial</vt:lpstr>
      <vt:lpstr>Calibri</vt:lpstr>
      <vt:lpstr>Calibri Light</vt:lpstr>
      <vt:lpstr>Cambria Math</vt:lpstr>
      <vt:lpstr>Segoe UI Variable Text</vt:lpstr>
      <vt:lpstr>Wingdings</vt:lpstr>
      <vt:lpstr>Office</vt:lpstr>
      <vt:lpstr>Hertzscher Dipol – Grundlagen und Lösung der Wellengleichung</vt:lpstr>
      <vt:lpstr>Einordung</vt:lpstr>
      <vt:lpstr>Ziel der heutigen Vorlesung</vt:lpstr>
      <vt:lpstr>Grundlagen</vt:lpstr>
      <vt:lpstr>Grundlagen</vt:lpstr>
      <vt:lpstr>Grundlagen</vt:lpstr>
      <vt:lpstr>Lösung der Wellengleichung</vt:lpstr>
      <vt:lpstr>Lösung der Wellengleichung</vt:lpstr>
      <vt:lpstr>Lösung der Wellengleichung</vt:lpstr>
      <vt:lpstr>Variante 1</vt:lpstr>
      <vt:lpstr>Variante 1</vt:lpstr>
      <vt:lpstr>Variante 1</vt:lpstr>
      <vt:lpstr>Lösung der Wellengleichung</vt:lpstr>
      <vt:lpstr>Lösung der Wellengleichung</vt:lpstr>
      <vt:lpstr>Lösung der Wellengleichung</vt:lpstr>
      <vt:lpstr>Lösung der Wellengleichung</vt:lpstr>
      <vt:lpstr>Lösung der Wellengleichung</vt:lpstr>
      <vt:lpstr>Lösung der Wellengleichung</vt:lpstr>
      <vt:lpstr>Lösung der Wellengleichung</vt:lpstr>
      <vt:lpstr>Lösung der Wellengleichung</vt:lpstr>
      <vt:lpstr>Lösung der Wellengleichung</vt:lpstr>
      <vt:lpstr>Lösung der Wellengleichung</vt:lpstr>
      <vt:lpstr>Lösung der Wellengleichung</vt:lpstr>
      <vt:lpstr>Lösung der Wellengleichung</vt:lpstr>
      <vt:lpstr>Lösung der Wellengleichung</vt:lpstr>
      <vt:lpstr>Lösung der Wellengleichung</vt:lpstr>
      <vt:lpstr>Lösung der Wellengleichung</vt:lpstr>
      <vt:lpstr>Ausblick</vt:lpstr>
      <vt:lpstr>Vielen Dank</vt:lpstr>
      <vt:lpstr>PowerPoint-Präsentation</vt:lpstr>
      <vt:lpstr>Lösung der Wellengleichung</vt:lpstr>
      <vt:lpstr>Lösung der Wellengleichung</vt:lpstr>
      <vt:lpstr>Lösung der Wellengleichung</vt:lpstr>
      <vt:lpstr>Lösung der Wellengleichung</vt:lpstr>
      <vt:lpstr>Lösung der Wellengleichung</vt:lpstr>
      <vt:lpstr>Lösung der Wellengleichung</vt:lpstr>
      <vt:lpstr>Lösung der Wellengleichung</vt:lpstr>
      <vt:lpstr>PowerPoint-Präsentation</vt:lpstr>
      <vt:lpstr>PowerPoint-Präsentation</vt:lpstr>
      <vt:lpstr>VOR DER VORLESUNG</vt:lpstr>
      <vt:lpstr>PowerPoint-Präsentation</vt:lpstr>
      <vt:lpstr>PowerPoint-Präsentation</vt:lpstr>
      <vt:lpstr>Introduction to antennas and radiation</vt:lpstr>
      <vt:lpstr>Antennas for radar</vt:lpstr>
      <vt:lpstr>Satellite communication</vt:lpstr>
      <vt:lpstr>Weather</vt:lpstr>
      <vt:lpstr>Mobile communication / communication</vt:lpstr>
      <vt:lpstr>Automotive </vt:lpstr>
      <vt:lpstr>RFID &amp; NFC</vt:lpstr>
      <vt:lpstr>Application dependent design</vt:lpstr>
      <vt:lpstr>Derivation of fields around an antenna</vt:lpstr>
      <vt:lpstr>Electric fields around static charge</vt:lpstr>
      <vt:lpstr>Electric fields around static charge</vt:lpstr>
      <vt:lpstr>Electric fields around static charge</vt:lpstr>
      <vt:lpstr>Electric fields around static charge</vt:lpstr>
      <vt:lpstr>Electric fields around static charge</vt:lpstr>
      <vt:lpstr>Electric fields around static charge</vt:lpstr>
      <vt:lpstr>Electric fields around static charge</vt:lpstr>
      <vt:lpstr>Electric fields around static charge - Green‘s function</vt:lpstr>
      <vt:lpstr>Electric fields around static charge - Green‘s function</vt:lpstr>
      <vt:lpstr>Electric fields around static charge - Green‘s function</vt:lpstr>
      <vt:lpstr>Magnetic fields around static currents</vt:lpstr>
      <vt:lpstr>Magnetic fields around static currents</vt:lpstr>
      <vt:lpstr>Electromagnetic fields produced by dynamic charges. </vt:lpstr>
      <vt:lpstr>Electromagnetic fields produced by dynamic charges. </vt:lpstr>
      <vt:lpstr>Electromagnetic fields produced by dynamic charges. </vt:lpstr>
      <vt:lpstr>Electromagnetic fields produced by dynamic charges. </vt:lpstr>
      <vt:lpstr>Electromagnetic fields produced by dynamic charges. 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Microsoft Office-Anwender</dc:creator>
  <cp:lastModifiedBy>Dominik Mair</cp:lastModifiedBy>
  <cp:revision>163</cp:revision>
  <dcterms:created xsi:type="dcterms:W3CDTF">2017-06-06T07:41:45Z</dcterms:created>
  <dcterms:modified xsi:type="dcterms:W3CDTF">2025-05-07T07:39:03Z</dcterms:modified>
</cp:coreProperties>
</file>